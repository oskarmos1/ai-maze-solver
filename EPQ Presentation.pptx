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5143500" cx="9144000"/>
  <p:notesSz cx="6858000" cy="9144000"/>
  <p:embeddedFontLst>
    <p:embeddedFont>
      <p:font typeface="Roboto"/>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Roboto-regular.fnt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boldItalic.fntdata"/><Relationship Id="rId30" Type="http://schemas.openxmlformats.org/officeDocument/2006/relationships/font" Target="fonts/Roboto-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ad0402a566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ad0402a566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ad0402a566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ad0402a566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ad0402a566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ad0402a566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ad0402a566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ad0402a566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ad0402a566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ad0402a566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ad0402a566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ad0402a566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ad0402a566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ad0402a566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ad0402a566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ad0402a566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ad0402a566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ad0402a566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ad0402a566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ad0402a566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ad0402a566_0_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ad0402a566_0_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ad0402a566_0_2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3ad0402a566_0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ad0402a566_0_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3ad0402a566_0_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ad0402a566_0_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3ad0402a566_0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ad0402a566_0_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ad0402a566_0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ad0402a566_0_2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ad0402a566_0_2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ad0402a566_0_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3ad0402a566_0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ad0402a566_0_2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3ad0402a566_0_2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ad0402a566_0_2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ad0402a566_0_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ad0402a566_0_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ad0402a566_0_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ad0402a566_0_3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3ad0402a566_0_3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598100" y="1775222"/>
            <a:ext cx="8222100" cy="83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17" name="Google Shape;17;p2"/>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p:txBody>
      </p:sp>
      <p:sp>
        <p:nvSpPr>
          <p:cNvPr id="18" name="Google Shape;18;p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9"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 name="Google Shape;26;p3"/>
          <p:cNvSpPr txBox="1"/>
          <p:nvPr>
            <p:ph type="title"/>
          </p:nvPr>
        </p:nvSpPr>
        <p:spPr>
          <a:xfrm>
            <a:off x="598100" y="2152347"/>
            <a:ext cx="8222100" cy="838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27" name="Google Shape;27;p3"/>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7170274" y="3903669"/>
              <a:ext cx="989100" cy="987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0" y="4891594"/>
              <a:ext cx="9144000" cy="25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 name="Google Shape;35;p4"/>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 name="Google Shape;36;p4"/>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7" name="Google Shape;37;p4"/>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8" name="Shape 38"/>
        <p:cNvGrpSpPr/>
        <p:nvPr/>
      </p:nvGrpSpPr>
      <p:grpSpPr>
        <a:xfrm>
          <a:off x="0" y="0"/>
          <a:ext cx="0" cy="0"/>
          <a:chOff x="0" y="0"/>
          <a:chExt cx="0" cy="0"/>
        </a:xfrm>
      </p:grpSpPr>
      <p:sp>
        <p:nvSpPr>
          <p:cNvPr id="39" name="Google Shape;39;p5"/>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 name="Google Shape;40;p5"/>
          <p:cNvSpPr txBox="1"/>
          <p:nvPr>
            <p:ph idx="1" type="body"/>
          </p:nvPr>
        </p:nvSpPr>
        <p:spPr>
          <a:xfrm>
            <a:off x="3117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5"/>
          <p:cNvSpPr txBox="1"/>
          <p:nvPr>
            <p:ph idx="2" type="body"/>
          </p:nvPr>
        </p:nvSpPr>
        <p:spPr>
          <a:xfrm>
            <a:off x="48324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2" name="Google Shape;42;p5"/>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6"/>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5" name="Google Shape;45;p6"/>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6" name="Shape 46"/>
        <p:cNvGrpSpPr/>
        <p:nvPr/>
      </p:nvGrpSpPr>
      <p:grpSpPr>
        <a:xfrm>
          <a:off x="0" y="0"/>
          <a:ext cx="0" cy="0"/>
          <a:chOff x="0" y="0"/>
          <a:chExt cx="0" cy="0"/>
        </a:xfrm>
      </p:grpSpPr>
      <p:sp>
        <p:nvSpPr>
          <p:cNvPr id="47" name="Google Shape;47;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8" name="Google Shape;48;p7"/>
          <p:cNvSpPr txBox="1"/>
          <p:nvPr>
            <p:ph idx="1" type="body"/>
          </p:nvPr>
        </p:nvSpPr>
        <p:spPr>
          <a:xfrm>
            <a:off x="311700" y="1465804"/>
            <a:ext cx="2808000" cy="31032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9" name="Google Shape;49;p7"/>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50"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8"/>
            <p:cNvSpPr/>
            <p:nvPr/>
          </p:nvSpPr>
          <p:spPr>
            <a:xfrm flipH="1" rot="10800000">
              <a:off x="7113588" y="107"/>
              <a:ext cx="1015200" cy="10152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58" name="Google Shape;58;p8"/>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9"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 name="Google Shape;6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62" name="Google Shape;62;p9"/>
          <p:cNvSpPr txBox="1"/>
          <p:nvPr>
            <p:ph type="title"/>
          </p:nvPr>
        </p:nvSpPr>
        <p:spPr>
          <a:xfrm>
            <a:off x="265500" y="1151100"/>
            <a:ext cx="4045200" cy="15645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3" name="Google Shape;63;p9"/>
          <p:cNvSpPr txBox="1"/>
          <p:nvPr>
            <p:ph idx="1" type="subTitle"/>
          </p:nvPr>
        </p:nvSpPr>
        <p:spPr>
          <a:xfrm>
            <a:off x="265500" y="2769001"/>
            <a:ext cx="4045200" cy="12693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4" name="Google Shape;6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65" name="Google Shape;65;p9"/>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6" name="Shape 66"/>
        <p:cNvGrpSpPr/>
        <p:nvPr/>
      </p:nvGrpSpPr>
      <p:grpSpPr>
        <a:xfrm>
          <a:off x="0" y="0"/>
          <a:ext cx="0" cy="0"/>
          <a:chOff x="0" y="0"/>
          <a:chExt cx="0" cy="0"/>
        </a:xfrm>
      </p:grpSpPr>
      <p:sp>
        <p:nvSpPr>
          <p:cNvPr id="67" name="Google Shape;67;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68" name="Google Shape;68;p10"/>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9"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1"/>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 name="Google Shape;76;p11"/>
          <p:cNvSpPr txBox="1"/>
          <p:nvPr>
            <p:ph hasCustomPrompt="1" type="title"/>
          </p:nvPr>
        </p:nvSpPr>
        <p:spPr>
          <a:xfrm>
            <a:off x="311700" y="1256050"/>
            <a:ext cx="8520600" cy="20307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p:nvPr>
            <p:ph idx="1" type="body"/>
          </p:nvPr>
        </p:nvSpPr>
        <p:spPr>
          <a:xfrm>
            <a:off x="311700" y="3369225"/>
            <a:ext cx="8520600" cy="12819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78" name="Google Shape;78;p11"/>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9" name="Shape 79"/>
        <p:cNvGrpSpPr/>
        <p:nvPr/>
      </p:nvGrpSpPr>
      <p:grpSpPr>
        <a:xfrm>
          <a:off x="0" y="0"/>
          <a:ext cx="0" cy="0"/>
          <a:chOff x="0" y="0"/>
          <a:chExt cx="0" cy="0"/>
        </a:xfrm>
      </p:grpSpPr>
      <p:sp>
        <p:nvSpPr>
          <p:cNvPr id="80" name="Google Shape;80;p1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p:txBody>
      </p:sp>
      <p:sp>
        <p:nvSpPr>
          <p:cNvPr id="7" name="Google Shape;7;p1"/>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indent="-317500" lvl="1" marL="914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2pPr>
            <a:lvl3pPr indent="-317500" lvl="2" marL="1371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3pPr>
            <a:lvl4pPr indent="-317500" lvl="3" marL="1828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4pPr>
            <a:lvl5pPr indent="-317500" lvl="4" marL="22860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5pPr>
            <a:lvl6pPr indent="-317500" lvl="5" marL="27432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6pPr>
            <a:lvl7pPr indent="-317500" lvl="6" marL="3200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7pPr>
            <a:lvl8pPr indent="-317500" lvl="7" marL="3657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8pPr>
            <a:lvl9pPr indent="-317500" lvl="8" marL="4114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www.youtube.com/watch?v=BR4_SrTWbMw"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1.png"/><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3"/>
          <p:cNvSpPr txBox="1"/>
          <p:nvPr>
            <p:ph type="ctrTitle"/>
          </p:nvPr>
        </p:nvSpPr>
        <p:spPr>
          <a:xfrm>
            <a:off x="598100" y="1775222"/>
            <a:ext cx="8222100" cy="838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EPQ Presentation</a:t>
            </a:r>
            <a:endParaRPr/>
          </a:p>
        </p:txBody>
      </p:sp>
      <p:sp>
        <p:nvSpPr>
          <p:cNvPr id="86" name="Google Shape;86;p13"/>
          <p:cNvSpPr txBox="1"/>
          <p:nvPr/>
        </p:nvSpPr>
        <p:spPr>
          <a:xfrm>
            <a:off x="598100" y="2571750"/>
            <a:ext cx="6984000" cy="59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Roboto"/>
                <a:ea typeface="Roboto"/>
                <a:cs typeface="Roboto"/>
                <a:sym typeface="Roboto"/>
              </a:rPr>
              <a:t>An artefact, detailing the creation of an AI Maze Solver</a:t>
            </a:r>
            <a:endParaRPr sz="1800">
              <a:solidFill>
                <a:schemeClr val="lt1"/>
              </a:solidFill>
              <a:latin typeface="Roboto"/>
              <a:ea typeface="Roboto"/>
              <a:cs typeface="Roboto"/>
              <a:sym typeface="Roboto"/>
            </a:endParaRPr>
          </a:p>
        </p:txBody>
      </p:sp>
      <p:sp>
        <p:nvSpPr>
          <p:cNvPr id="87" name="Google Shape;87;p13"/>
          <p:cNvSpPr txBox="1"/>
          <p:nvPr/>
        </p:nvSpPr>
        <p:spPr>
          <a:xfrm>
            <a:off x="598100" y="3030875"/>
            <a:ext cx="6984000" cy="59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lt1"/>
                </a:solidFill>
                <a:latin typeface="Roboto"/>
                <a:ea typeface="Roboto"/>
                <a:cs typeface="Roboto"/>
                <a:sym typeface="Roboto"/>
              </a:rPr>
              <a:t>By Oskar Czyz</a:t>
            </a:r>
            <a:endParaRPr>
              <a:solidFill>
                <a:schemeClr val="lt1"/>
              </a:solidFill>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Why did I choose this project?</a:t>
            </a:r>
            <a:endParaRPr/>
          </a:p>
        </p:txBody>
      </p:sp>
      <p:sp>
        <p:nvSpPr>
          <p:cNvPr id="93" name="Google Shape;93;p14"/>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I chose this project for these reasons:</a:t>
            </a:r>
            <a:endParaRPr/>
          </a:p>
          <a:p>
            <a:pPr indent="-342900" lvl="0" marL="457200" rtl="0" algn="l">
              <a:spcBef>
                <a:spcPts val="1200"/>
              </a:spcBef>
              <a:spcAft>
                <a:spcPts val="0"/>
              </a:spcAft>
              <a:buSzPts val="1800"/>
              <a:buChar char="-"/>
            </a:pPr>
            <a:r>
              <a:rPr lang="en-GB"/>
              <a:t>AI is extremely relevant in recent times due to the introduction of LLMs such as ChatGBT and Gemini.</a:t>
            </a:r>
            <a:endParaRPr/>
          </a:p>
          <a:p>
            <a:pPr indent="-342900" lvl="0" marL="457200" rtl="0" algn="l">
              <a:spcBef>
                <a:spcPts val="0"/>
              </a:spcBef>
              <a:spcAft>
                <a:spcPts val="0"/>
              </a:spcAft>
              <a:buSzPts val="1800"/>
              <a:buChar char="-"/>
            </a:pPr>
            <a:r>
              <a:rPr lang="en-GB"/>
              <a:t>I was inspired by a Youtube video where someone used reinforcement learning to train an AI to walk.</a:t>
            </a:r>
            <a:endParaRPr/>
          </a:p>
          <a:p>
            <a:pPr indent="-342900" lvl="0" marL="457200" rtl="0" algn="l">
              <a:spcBef>
                <a:spcPts val="0"/>
              </a:spcBef>
              <a:spcAft>
                <a:spcPts val="0"/>
              </a:spcAft>
              <a:buSzPts val="1800"/>
              <a:buChar char="-"/>
            </a:pPr>
            <a:r>
              <a:rPr lang="en-GB"/>
              <a:t>I enjoy programming and thought this would be a huge learning experience.</a:t>
            </a:r>
            <a:endParaRPr/>
          </a:p>
          <a:p>
            <a:pPr indent="-342900" lvl="0" marL="457200" rtl="0" algn="l">
              <a:spcBef>
                <a:spcPts val="0"/>
              </a:spcBef>
              <a:spcAft>
                <a:spcPts val="0"/>
              </a:spcAft>
              <a:buSzPts val="1800"/>
              <a:buChar char="-"/>
            </a:pPr>
            <a:r>
              <a:rPr lang="en-GB"/>
              <a:t>A project like this would strengthen my university application.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Project Aims</a:t>
            </a:r>
            <a:endParaRPr/>
          </a:p>
        </p:txBody>
      </p:sp>
      <p:sp>
        <p:nvSpPr>
          <p:cNvPr id="99" name="Google Shape;99;p15"/>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Here were my project aims (from a programmatic perspective) in chronological order:</a:t>
            </a:r>
            <a:endParaRPr/>
          </a:p>
          <a:p>
            <a:pPr indent="-342900" lvl="0" marL="457200" rtl="0" algn="l">
              <a:spcBef>
                <a:spcPts val="1200"/>
              </a:spcBef>
              <a:spcAft>
                <a:spcPts val="0"/>
              </a:spcAft>
              <a:buSzPts val="1800"/>
              <a:buAutoNum type="arabicParenR"/>
            </a:pPr>
            <a:r>
              <a:rPr lang="en-GB"/>
              <a:t>Use Breadth-first Search and Prim’s algorithm to randomly generate a maze.</a:t>
            </a:r>
            <a:endParaRPr/>
          </a:p>
          <a:p>
            <a:pPr indent="-342900" lvl="0" marL="457200" rtl="0" algn="l">
              <a:spcBef>
                <a:spcPts val="0"/>
              </a:spcBef>
              <a:spcAft>
                <a:spcPts val="0"/>
              </a:spcAft>
              <a:buSzPts val="1800"/>
              <a:buAutoNum type="arabicParenR"/>
            </a:pPr>
            <a:r>
              <a:rPr b="1" lang="en-GB"/>
              <a:t>Create a Dijkstra’s algorithm to algorithmically solve the maze.</a:t>
            </a:r>
            <a:endParaRPr b="1"/>
          </a:p>
          <a:p>
            <a:pPr indent="-342900" lvl="0" marL="457200" rtl="0" algn="l">
              <a:spcBef>
                <a:spcPts val="0"/>
              </a:spcBef>
              <a:spcAft>
                <a:spcPts val="0"/>
              </a:spcAft>
              <a:buSzPts val="1800"/>
              <a:buAutoNum type="arabicParenR"/>
            </a:pPr>
            <a:r>
              <a:rPr b="1" lang="en-GB"/>
              <a:t>Create the AI with maze solving capabilities using tabular Q-function reinforcement learning.</a:t>
            </a:r>
            <a:endParaRPr b="1"/>
          </a:p>
          <a:p>
            <a:pPr indent="-342900" lvl="0" marL="457200" rtl="0" algn="l">
              <a:spcBef>
                <a:spcPts val="0"/>
              </a:spcBef>
              <a:spcAft>
                <a:spcPts val="0"/>
              </a:spcAft>
              <a:buSzPts val="1800"/>
              <a:buAutoNum type="arabicParenR"/>
            </a:pPr>
            <a:r>
              <a:rPr lang="en-GB"/>
              <a:t>Use python libraries to make a nice final visualization of the project. </a:t>
            </a:r>
            <a:endParaRPr/>
          </a:p>
          <a:p>
            <a:pPr indent="0" lvl="0" marL="0" rtl="0" algn="l">
              <a:spcBef>
                <a:spcPts val="1200"/>
              </a:spcBef>
              <a:spcAft>
                <a:spcPts val="1200"/>
              </a:spcAft>
              <a:buNone/>
            </a:pPr>
            <a:r>
              <a:t/>
            </a:r>
            <a:endParaRPr/>
          </a:p>
        </p:txBody>
      </p:sp>
      <p:sp>
        <p:nvSpPr>
          <p:cNvPr id="100" name="Google Shape;100;p15"/>
          <p:cNvSpPr txBox="1"/>
          <p:nvPr/>
        </p:nvSpPr>
        <p:spPr>
          <a:xfrm>
            <a:off x="311700" y="3767200"/>
            <a:ext cx="5827800" cy="6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latin typeface="Roboto"/>
                <a:ea typeface="Roboto"/>
                <a:cs typeface="Roboto"/>
                <a:sym typeface="Roboto"/>
              </a:rPr>
              <a:t>For my presentation, due to time constraints, I will only be demonstrating the programs highlighted in </a:t>
            </a:r>
            <a:r>
              <a:rPr b="1" lang="en-GB" sz="1800">
                <a:solidFill>
                  <a:schemeClr val="dk2"/>
                </a:solidFill>
                <a:latin typeface="Roboto"/>
                <a:ea typeface="Roboto"/>
                <a:cs typeface="Roboto"/>
                <a:sym typeface="Roboto"/>
              </a:rPr>
              <a:t>bold</a:t>
            </a:r>
            <a:r>
              <a:rPr lang="en-GB" sz="1800">
                <a:solidFill>
                  <a:schemeClr val="dk2"/>
                </a:solidFill>
                <a:latin typeface="Roboto"/>
                <a:ea typeface="Roboto"/>
                <a:cs typeface="Roboto"/>
                <a:sym typeface="Roboto"/>
              </a:rPr>
              <a:t>. </a:t>
            </a:r>
            <a:endParaRPr sz="1800">
              <a:solidFill>
                <a:schemeClr val="dk2"/>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6"/>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Crash course into graph theory</a:t>
            </a:r>
            <a:endParaRPr/>
          </a:p>
        </p:txBody>
      </p:sp>
      <p:sp>
        <p:nvSpPr>
          <p:cNvPr id="106" name="Google Shape;106;p16"/>
          <p:cNvSpPr txBox="1"/>
          <p:nvPr/>
        </p:nvSpPr>
        <p:spPr>
          <a:xfrm>
            <a:off x="311700" y="923425"/>
            <a:ext cx="8305200" cy="34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latin typeface="Roboto"/>
                <a:ea typeface="Roboto"/>
                <a:cs typeface="Roboto"/>
                <a:sym typeface="Roboto"/>
              </a:rPr>
              <a:t>Forget the standard cartesian (X-Y) graphs that you know as this is completely different. A graph is now a set of points called </a:t>
            </a:r>
            <a:r>
              <a:rPr b="1" lang="en-GB" sz="1800" u="sng">
                <a:solidFill>
                  <a:schemeClr val="dk2"/>
                </a:solidFill>
                <a:latin typeface="Roboto"/>
                <a:ea typeface="Roboto"/>
                <a:cs typeface="Roboto"/>
                <a:sym typeface="Roboto"/>
              </a:rPr>
              <a:t>nodes</a:t>
            </a:r>
            <a:r>
              <a:rPr lang="en-GB" sz="1800">
                <a:solidFill>
                  <a:schemeClr val="dk2"/>
                </a:solidFill>
                <a:latin typeface="Roboto"/>
                <a:ea typeface="Roboto"/>
                <a:cs typeface="Roboto"/>
                <a:sym typeface="Roboto"/>
              </a:rPr>
              <a:t> connected together by lines known as </a:t>
            </a:r>
            <a:r>
              <a:rPr b="1" lang="en-GB" sz="1800" u="sng">
                <a:solidFill>
                  <a:schemeClr val="dk2"/>
                </a:solidFill>
                <a:latin typeface="Roboto"/>
                <a:ea typeface="Roboto"/>
                <a:cs typeface="Roboto"/>
                <a:sym typeface="Roboto"/>
              </a:rPr>
              <a:t>arcs/edges</a:t>
            </a:r>
            <a:r>
              <a:rPr lang="en-GB" sz="1800">
                <a:solidFill>
                  <a:schemeClr val="dk2"/>
                </a:solidFill>
                <a:latin typeface="Roboto"/>
                <a:ea typeface="Roboto"/>
                <a:cs typeface="Roboto"/>
                <a:sym typeface="Roboto"/>
              </a:rPr>
              <a:t>. A network is a graph that has </a:t>
            </a:r>
            <a:r>
              <a:rPr b="1" lang="en-GB" sz="1800" u="sng">
                <a:solidFill>
                  <a:schemeClr val="dk2"/>
                </a:solidFill>
                <a:latin typeface="Roboto"/>
                <a:ea typeface="Roboto"/>
                <a:cs typeface="Roboto"/>
                <a:sym typeface="Roboto"/>
              </a:rPr>
              <a:t>weights</a:t>
            </a:r>
            <a:r>
              <a:rPr b="1" lang="en-GB" sz="1800">
                <a:solidFill>
                  <a:schemeClr val="dk2"/>
                </a:solidFill>
                <a:latin typeface="Roboto"/>
                <a:ea typeface="Roboto"/>
                <a:cs typeface="Roboto"/>
                <a:sym typeface="Roboto"/>
              </a:rPr>
              <a:t> </a:t>
            </a:r>
            <a:r>
              <a:rPr lang="en-GB" sz="1800">
                <a:solidFill>
                  <a:schemeClr val="dk2"/>
                </a:solidFill>
                <a:latin typeface="Roboto"/>
                <a:ea typeface="Roboto"/>
                <a:cs typeface="Roboto"/>
                <a:sym typeface="Roboto"/>
              </a:rPr>
              <a:t>on the edges. Every graph can be represented using an adjacency matrix which is effectively just a table. Here is an example of a network and its adjacency matrix:</a:t>
            </a:r>
            <a:endParaRPr sz="1800">
              <a:solidFill>
                <a:schemeClr val="dk2"/>
              </a:solidFill>
              <a:latin typeface="Roboto"/>
              <a:ea typeface="Roboto"/>
              <a:cs typeface="Roboto"/>
              <a:sym typeface="Roboto"/>
            </a:endParaRPr>
          </a:p>
        </p:txBody>
      </p:sp>
      <p:pic>
        <p:nvPicPr>
          <p:cNvPr id="107" name="Google Shape;107;p16"/>
          <p:cNvPicPr preferRelativeResize="0"/>
          <p:nvPr/>
        </p:nvPicPr>
        <p:blipFill>
          <a:blip r:embed="rId3">
            <a:alphaModFix/>
          </a:blip>
          <a:stretch>
            <a:fillRect/>
          </a:stretch>
        </p:blipFill>
        <p:spPr>
          <a:xfrm>
            <a:off x="1309749" y="2358525"/>
            <a:ext cx="2322300" cy="2108075"/>
          </a:xfrm>
          <a:prstGeom prst="rect">
            <a:avLst/>
          </a:prstGeom>
          <a:noFill/>
          <a:ln>
            <a:noFill/>
          </a:ln>
        </p:spPr>
      </p:pic>
      <p:pic>
        <p:nvPicPr>
          <p:cNvPr id="108" name="Google Shape;108;p16"/>
          <p:cNvPicPr preferRelativeResize="0"/>
          <p:nvPr/>
        </p:nvPicPr>
        <p:blipFill>
          <a:blip r:embed="rId4">
            <a:alphaModFix/>
          </a:blip>
          <a:stretch>
            <a:fillRect/>
          </a:stretch>
        </p:blipFill>
        <p:spPr>
          <a:xfrm>
            <a:off x="4129688" y="2688663"/>
            <a:ext cx="2581275" cy="1447800"/>
          </a:xfrm>
          <a:prstGeom prst="rect">
            <a:avLst/>
          </a:prstGeom>
          <a:noFill/>
          <a:ln>
            <a:noFill/>
          </a:ln>
        </p:spPr>
      </p:pic>
      <p:sp>
        <p:nvSpPr>
          <p:cNvPr id="109" name="Google Shape;109;p16"/>
          <p:cNvSpPr txBox="1"/>
          <p:nvPr/>
        </p:nvSpPr>
        <p:spPr>
          <a:xfrm>
            <a:off x="311700" y="4351450"/>
            <a:ext cx="5874300" cy="40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dk2"/>
                </a:solidFill>
                <a:latin typeface="Roboto"/>
                <a:ea typeface="Roboto"/>
                <a:cs typeface="Roboto"/>
                <a:sym typeface="Roboto"/>
              </a:rPr>
              <a:t>As you may have noticed, graphs are strikingly similar to mazes and all my ‘mazes’ are  effectively just networks.</a:t>
            </a:r>
            <a:endParaRPr sz="1300">
              <a:solidFill>
                <a:schemeClr val="dk2"/>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7"/>
          <p:cNvSpPr txBox="1"/>
          <p:nvPr>
            <p:ph type="title"/>
          </p:nvPr>
        </p:nvSpPr>
        <p:spPr>
          <a:xfrm>
            <a:off x="311700" y="396075"/>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Has anyone ever used a Sat Nav?</a:t>
            </a:r>
            <a:endParaRPr/>
          </a:p>
        </p:txBody>
      </p:sp>
      <p:pic>
        <p:nvPicPr>
          <p:cNvPr id="115" name="Google Shape;115;p17"/>
          <p:cNvPicPr preferRelativeResize="0"/>
          <p:nvPr/>
        </p:nvPicPr>
        <p:blipFill>
          <a:blip r:embed="rId3">
            <a:alphaModFix/>
          </a:blip>
          <a:stretch>
            <a:fillRect/>
          </a:stretch>
        </p:blipFill>
        <p:spPr>
          <a:xfrm>
            <a:off x="2434175" y="1364575"/>
            <a:ext cx="4219349" cy="2987900"/>
          </a:xfrm>
          <a:prstGeom prst="rect">
            <a:avLst/>
          </a:prstGeom>
          <a:noFill/>
          <a:ln>
            <a:noFill/>
          </a:ln>
        </p:spPr>
      </p:pic>
      <p:sp>
        <p:nvSpPr>
          <p:cNvPr id="116" name="Google Shape;116;p17"/>
          <p:cNvSpPr txBox="1"/>
          <p:nvPr/>
        </p:nvSpPr>
        <p:spPr>
          <a:xfrm>
            <a:off x="311700" y="912375"/>
            <a:ext cx="8596200" cy="36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latin typeface="Roboto"/>
                <a:ea typeface="Roboto"/>
                <a:cs typeface="Roboto"/>
                <a:sym typeface="Roboto"/>
              </a:rPr>
              <a:t>If yes have you ever wondered how a Sat Nav works?</a:t>
            </a:r>
            <a:endParaRPr sz="1800">
              <a:solidFill>
                <a:schemeClr val="dk2"/>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8"/>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Dijkstra’s Algorithm</a:t>
            </a:r>
            <a:endParaRPr/>
          </a:p>
        </p:txBody>
      </p:sp>
      <p:sp>
        <p:nvSpPr>
          <p:cNvPr id="122" name="Google Shape;122;p18"/>
          <p:cNvSpPr txBox="1"/>
          <p:nvPr>
            <p:ph idx="1" type="body"/>
          </p:nvPr>
        </p:nvSpPr>
        <p:spPr>
          <a:xfrm>
            <a:off x="311700" y="1229875"/>
            <a:ext cx="8520600" cy="33390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GB"/>
              <a:t>Sat Navs such as google maps use live road data such as: speed limit; road capacity; traffic data/accidents to construct a network. Sat </a:t>
            </a:r>
            <a:r>
              <a:rPr lang="en-GB"/>
              <a:t>Navs then use a heuristic algorithm called the A* algorithm to find one of the shortest paths to the end point. The A* algorithm is based entirely on the Dijkstra’s algorithm, however we don’t use Dijkstra’s algorithm because it has a time complexity of O(n²). This basically means Dijkstra’s algorithm get’s very slow for incredibly large networks. Here is a nice visualisation of the algorithms:</a:t>
            </a:r>
            <a:endParaRPr/>
          </a:p>
          <a:p>
            <a:pPr indent="0" lvl="0" marL="0" rtl="0" algn="l">
              <a:spcBef>
                <a:spcPts val="1200"/>
              </a:spcBef>
              <a:spcAft>
                <a:spcPts val="0"/>
              </a:spcAft>
              <a:buNone/>
            </a:pPr>
            <a:r>
              <a:rPr lang="en-GB" u="sng">
                <a:solidFill>
                  <a:schemeClr val="hlink"/>
                </a:solidFill>
                <a:hlinkClick r:id="rId3"/>
              </a:rPr>
              <a:t>https://www.youtube.com/watch?v=BR4_SrTWbMw</a:t>
            </a:r>
            <a:endParaRPr/>
          </a:p>
          <a:p>
            <a:pPr indent="0" lvl="0" marL="0" rtl="0" algn="l">
              <a:spcBef>
                <a:spcPts val="1200"/>
              </a:spcBef>
              <a:spcAft>
                <a:spcPts val="0"/>
              </a:spcAft>
              <a:buNone/>
            </a:pPr>
            <a:r>
              <a:rPr lang="en-GB" sz="1200"/>
              <a:t>(0:13 - Dijkstra’s; 0:50 - A* algorithm)</a:t>
            </a:r>
            <a:endParaRPr sz="1200"/>
          </a:p>
          <a:p>
            <a:pPr indent="0" lvl="0" marL="0" rtl="0" algn="l">
              <a:spcBef>
                <a:spcPts val="1200"/>
              </a:spcBef>
              <a:spcAft>
                <a:spcPts val="1200"/>
              </a:spcAft>
              <a:buNone/>
            </a:pPr>
            <a:r>
              <a:t/>
            </a:r>
            <a:endParaRPr sz="1200"/>
          </a:p>
        </p:txBody>
      </p:sp>
      <p:sp>
        <p:nvSpPr>
          <p:cNvPr id="123" name="Google Shape;123;p18"/>
          <p:cNvSpPr txBox="1"/>
          <p:nvPr/>
        </p:nvSpPr>
        <p:spPr>
          <a:xfrm>
            <a:off x="311700" y="4184025"/>
            <a:ext cx="5953500" cy="44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latin typeface="Roboto"/>
                <a:ea typeface="Roboto"/>
                <a:cs typeface="Roboto"/>
                <a:sym typeface="Roboto"/>
              </a:rPr>
              <a:t>But how does this algorithm work?</a:t>
            </a:r>
            <a:endParaRPr sz="1800">
              <a:solidFill>
                <a:schemeClr val="dk2"/>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9"/>
          <p:cNvSpPr txBox="1"/>
          <p:nvPr>
            <p:ph type="title"/>
          </p:nvPr>
        </p:nvSpPr>
        <p:spPr>
          <a:xfrm>
            <a:off x="311700" y="339225"/>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Dijkstra’s algorithm</a:t>
            </a:r>
            <a:endParaRPr/>
          </a:p>
        </p:txBody>
      </p:sp>
      <p:pic>
        <p:nvPicPr>
          <p:cNvPr id="129" name="Google Shape;129;p19"/>
          <p:cNvPicPr preferRelativeResize="0"/>
          <p:nvPr/>
        </p:nvPicPr>
        <p:blipFill>
          <a:blip r:embed="rId3">
            <a:alphaModFix/>
          </a:blip>
          <a:stretch>
            <a:fillRect/>
          </a:stretch>
        </p:blipFill>
        <p:spPr>
          <a:xfrm>
            <a:off x="1872500" y="1156375"/>
            <a:ext cx="4459125" cy="3567300"/>
          </a:xfrm>
          <a:prstGeom prst="rect">
            <a:avLst/>
          </a:prstGeom>
          <a:noFill/>
          <a:ln>
            <a:noFill/>
          </a:ln>
        </p:spPr>
      </p:pic>
      <p:sp>
        <p:nvSpPr>
          <p:cNvPr id="130" name="Google Shape;130;p19"/>
          <p:cNvSpPr txBox="1"/>
          <p:nvPr/>
        </p:nvSpPr>
        <p:spPr>
          <a:xfrm>
            <a:off x="311700" y="947025"/>
            <a:ext cx="8247900" cy="40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latin typeface="Roboto"/>
                <a:ea typeface="Roboto"/>
                <a:cs typeface="Roboto"/>
                <a:sym typeface="Roboto"/>
              </a:rPr>
              <a:t>Can anyone here spot the shortest path from A to D and its length?</a:t>
            </a:r>
            <a:endParaRPr sz="1800">
              <a:solidFill>
                <a:schemeClr val="dk2"/>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0"/>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Dijkstra’s algorithm</a:t>
            </a:r>
            <a:endParaRPr/>
          </a:p>
        </p:txBody>
      </p:sp>
      <p:pic>
        <p:nvPicPr>
          <p:cNvPr id="136" name="Google Shape;136;p20"/>
          <p:cNvPicPr preferRelativeResize="0"/>
          <p:nvPr/>
        </p:nvPicPr>
        <p:blipFill>
          <a:blip r:embed="rId3">
            <a:alphaModFix/>
          </a:blip>
          <a:stretch>
            <a:fillRect/>
          </a:stretch>
        </p:blipFill>
        <p:spPr>
          <a:xfrm>
            <a:off x="2071400" y="947025"/>
            <a:ext cx="4459125" cy="3567300"/>
          </a:xfrm>
          <a:prstGeom prst="rect">
            <a:avLst/>
          </a:prstGeom>
          <a:noFill/>
          <a:ln>
            <a:noFill/>
          </a:ln>
        </p:spPr>
      </p:pic>
      <p:pic>
        <p:nvPicPr>
          <p:cNvPr id="137" name="Google Shape;137;p20"/>
          <p:cNvPicPr preferRelativeResize="0"/>
          <p:nvPr/>
        </p:nvPicPr>
        <p:blipFill>
          <a:blip r:embed="rId4">
            <a:alphaModFix/>
          </a:blip>
          <a:stretch>
            <a:fillRect/>
          </a:stretch>
        </p:blipFill>
        <p:spPr>
          <a:xfrm>
            <a:off x="1546243" y="1753800"/>
            <a:ext cx="1210357" cy="607800"/>
          </a:xfrm>
          <a:prstGeom prst="rect">
            <a:avLst/>
          </a:prstGeom>
          <a:noFill/>
          <a:ln>
            <a:noFill/>
          </a:ln>
        </p:spPr>
      </p:pic>
      <p:pic>
        <p:nvPicPr>
          <p:cNvPr id="138" name="Google Shape;138;p20"/>
          <p:cNvPicPr preferRelativeResize="0"/>
          <p:nvPr/>
        </p:nvPicPr>
        <p:blipFill>
          <a:blip r:embed="rId4">
            <a:alphaModFix/>
          </a:blip>
          <a:stretch>
            <a:fillRect/>
          </a:stretch>
        </p:blipFill>
        <p:spPr>
          <a:xfrm>
            <a:off x="3617618" y="899525"/>
            <a:ext cx="1210357" cy="607800"/>
          </a:xfrm>
          <a:prstGeom prst="rect">
            <a:avLst/>
          </a:prstGeom>
          <a:noFill/>
          <a:ln>
            <a:noFill/>
          </a:ln>
        </p:spPr>
      </p:pic>
      <p:pic>
        <p:nvPicPr>
          <p:cNvPr id="139" name="Google Shape;139;p20"/>
          <p:cNvPicPr preferRelativeResize="0"/>
          <p:nvPr/>
        </p:nvPicPr>
        <p:blipFill>
          <a:blip r:embed="rId4">
            <a:alphaModFix/>
          </a:blip>
          <a:stretch>
            <a:fillRect/>
          </a:stretch>
        </p:blipFill>
        <p:spPr>
          <a:xfrm>
            <a:off x="5885618" y="947025"/>
            <a:ext cx="1210357" cy="607800"/>
          </a:xfrm>
          <a:prstGeom prst="rect">
            <a:avLst/>
          </a:prstGeom>
          <a:noFill/>
          <a:ln>
            <a:noFill/>
          </a:ln>
        </p:spPr>
      </p:pic>
      <p:pic>
        <p:nvPicPr>
          <p:cNvPr id="140" name="Google Shape;140;p20"/>
          <p:cNvPicPr preferRelativeResize="0"/>
          <p:nvPr/>
        </p:nvPicPr>
        <p:blipFill>
          <a:blip r:embed="rId4">
            <a:alphaModFix/>
          </a:blip>
          <a:stretch>
            <a:fillRect/>
          </a:stretch>
        </p:blipFill>
        <p:spPr>
          <a:xfrm>
            <a:off x="5990818" y="3194075"/>
            <a:ext cx="1210357" cy="607800"/>
          </a:xfrm>
          <a:prstGeom prst="rect">
            <a:avLst/>
          </a:prstGeom>
          <a:noFill/>
          <a:ln>
            <a:noFill/>
          </a:ln>
        </p:spPr>
      </p:pic>
      <p:pic>
        <p:nvPicPr>
          <p:cNvPr id="141" name="Google Shape;141;p20"/>
          <p:cNvPicPr preferRelativeResize="0"/>
          <p:nvPr/>
        </p:nvPicPr>
        <p:blipFill>
          <a:blip r:embed="rId4">
            <a:alphaModFix/>
          </a:blip>
          <a:stretch>
            <a:fillRect/>
          </a:stretch>
        </p:blipFill>
        <p:spPr>
          <a:xfrm>
            <a:off x="2832193" y="3857675"/>
            <a:ext cx="1210357" cy="607800"/>
          </a:xfrm>
          <a:prstGeom prst="rect">
            <a:avLst/>
          </a:prstGeom>
          <a:noFill/>
          <a:ln>
            <a:noFill/>
          </a:ln>
        </p:spPr>
      </p:pic>
      <p:sp>
        <p:nvSpPr>
          <p:cNvPr id="142" name="Google Shape;142;p20"/>
          <p:cNvSpPr txBox="1"/>
          <p:nvPr/>
        </p:nvSpPr>
        <p:spPr>
          <a:xfrm>
            <a:off x="1667300" y="1753800"/>
            <a:ext cx="404100" cy="16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100">
                <a:solidFill>
                  <a:schemeClr val="dk2"/>
                </a:solidFill>
                <a:latin typeface="Roboto"/>
                <a:ea typeface="Roboto"/>
                <a:cs typeface="Roboto"/>
                <a:sym typeface="Roboto"/>
              </a:rPr>
              <a:t>1</a:t>
            </a:r>
            <a:endParaRPr sz="1100">
              <a:solidFill>
                <a:schemeClr val="dk2"/>
              </a:solidFill>
              <a:latin typeface="Roboto"/>
              <a:ea typeface="Roboto"/>
              <a:cs typeface="Roboto"/>
              <a:sym typeface="Roboto"/>
            </a:endParaRPr>
          </a:p>
        </p:txBody>
      </p:sp>
      <p:sp>
        <p:nvSpPr>
          <p:cNvPr id="143" name="Google Shape;143;p20"/>
          <p:cNvSpPr txBox="1"/>
          <p:nvPr/>
        </p:nvSpPr>
        <p:spPr>
          <a:xfrm>
            <a:off x="2352500" y="1753800"/>
            <a:ext cx="404100" cy="16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100">
                <a:solidFill>
                  <a:schemeClr val="dk2"/>
                </a:solidFill>
                <a:latin typeface="Roboto"/>
                <a:ea typeface="Roboto"/>
                <a:cs typeface="Roboto"/>
                <a:sym typeface="Roboto"/>
              </a:rPr>
              <a:t>0</a:t>
            </a:r>
            <a:endParaRPr sz="1100">
              <a:solidFill>
                <a:schemeClr val="dk2"/>
              </a:solidFill>
              <a:latin typeface="Roboto"/>
              <a:ea typeface="Roboto"/>
              <a:cs typeface="Roboto"/>
              <a:sym typeface="Roboto"/>
            </a:endParaRPr>
          </a:p>
        </p:txBody>
      </p:sp>
      <p:sp>
        <p:nvSpPr>
          <p:cNvPr id="144" name="Google Shape;144;p20"/>
          <p:cNvSpPr txBox="1"/>
          <p:nvPr/>
        </p:nvSpPr>
        <p:spPr>
          <a:xfrm>
            <a:off x="1667300" y="2032050"/>
            <a:ext cx="404100" cy="16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100">
                <a:solidFill>
                  <a:schemeClr val="dk2"/>
                </a:solidFill>
                <a:latin typeface="Roboto"/>
                <a:ea typeface="Roboto"/>
                <a:cs typeface="Roboto"/>
                <a:sym typeface="Roboto"/>
              </a:rPr>
              <a:t>0</a:t>
            </a:r>
            <a:endParaRPr sz="1100">
              <a:solidFill>
                <a:schemeClr val="dk2"/>
              </a:solidFill>
              <a:latin typeface="Roboto"/>
              <a:ea typeface="Roboto"/>
              <a:cs typeface="Roboto"/>
              <a:sym typeface="Roboto"/>
            </a:endParaRPr>
          </a:p>
        </p:txBody>
      </p:sp>
      <p:sp>
        <p:nvSpPr>
          <p:cNvPr id="145" name="Google Shape;145;p20"/>
          <p:cNvSpPr txBox="1"/>
          <p:nvPr/>
        </p:nvSpPr>
        <p:spPr>
          <a:xfrm>
            <a:off x="3638450" y="1168275"/>
            <a:ext cx="404100" cy="16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100">
                <a:solidFill>
                  <a:schemeClr val="dk2"/>
                </a:solidFill>
                <a:latin typeface="Roboto"/>
                <a:ea typeface="Roboto"/>
                <a:cs typeface="Roboto"/>
                <a:sym typeface="Roboto"/>
              </a:rPr>
              <a:t>7</a:t>
            </a:r>
            <a:endParaRPr sz="1100">
              <a:solidFill>
                <a:schemeClr val="dk2"/>
              </a:solidFill>
              <a:latin typeface="Roboto"/>
              <a:ea typeface="Roboto"/>
              <a:cs typeface="Roboto"/>
              <a:sym typeface="Roboto"/>
            </a:endParaRPr>
          </a:p>
        </p:txBody>
      </p:sp>
      <p:sp>
        <p:nvSpPr>
          <p:cNvPr id="146" name="Google Shape;146;p20"/>
          <p:cNvSpPr txBox="1"/>
          <p:nvPr/>
        </p:nvSpPr>
        <p:spPr>
          <a:xfrm>
            <a:off x="2914375" y="4134875"/>
            <a:ext cx="404100" cy="33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100">
                <a:solidFill>
                  <a:schemeClr val="dk2"/>
                </a:solidFill>
                <a:latin typeface="Roboto"/>
                <a:ea typeface="Roboto"/>
                <a:cs typeface="Roboto"/>
                <a:sym typeface="Roboto"/>
              </a:rPr>
              <a:t>1</a:t>
            </a:r>
            <a:endParaRPr sz="1100">
              <a:solidFill>
                <a:schemeClr val="dk2"/>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1"/>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Dijkstra’s algorithm</a:t>
            </a:r>
            <a:endParaRPr/>
          </a:p>
        </p:txBody>
      </p:sp>
      <p:pic>
        <p:nvPicPr>
          <p:cNvPr id="152" name="Google Shape;152;p21"/>
          <p:cNvPicPr preferRelativeResize="0"/>
          <p:nvPr/>
        </p:nvPicPr>
        <p:blipFill>
          <a:blip r:embed="rId3">
            <a:alphaModFix/>
          </a:blip>
          <a:stretch>
            <a:fillRect/>
          </a:stretch>
        </p:blipFill>
        <p:spPr>
          <a:xfrm>
            <a:off x="2071400" y="947025"/>
            <a:ext cx="4459125" cy="3567300"/>
          </a:xfrm>
          <a:prstGeom prst="rect">
            <a:avLst/>
          </a:prstGeom>
          <a:noFill/>
          <a:ln>
            <a:noFill/>
          </a:ln>
        </p:spPr>
      </p:pic>
      <p:pic>
        <p:nvPicPr>
          <p:cNvPr id="153" name="Google Shape;153;p21"/>
          <p:cNvPicPr preferRelativeResize="0"/>
          <p:nvPr/>
        </p:nvPicPr>
        <p:blipFill>
          <a:blip r:embed="rId4">
            <a:alphaModFix/>
          </a:blip>
          <a:stretch>
            <a:fillRect/>
          </a:stretch>
        </p:blipFill>
        <p:spPr>
          <a:xfrm>
            <a:off x="1546243" y="1753800"/>
            <a:ext cx="1210357" cy="607800"/>
          </a:xfrm>
          <a:prstGeom prst="rect">
            <a:avLst/>
          </a:prstGeom>
          <a:noFill/>
          <a:ln>
            <a:noFill/>
          </a:ln>
        </p:spPr>
      </p:pic>
      <p:pic>
        <p:nvPicPr>
          <p:cNvPr id="154" name="Google Shape;154;p21"/>
          <p:cNvPicPr preferRelativeResize="0"/>
          <p:nvPr/>
        </p:nvPicPr>
        <p:blipFill>
          <a:blip r:embed="rId4">
            <a:alphaModFix/>
          </a:blip>
          <a:stretch>
            <a:fillRect/>
          </a:stretch>
        </p:blipFill>
        <p:spPr>
          <a:xfrm>
            <a:off x="3617618" y="899525"/>
            <a:ext cx="1210357" cy="607800"/>
          </a:xfrm>
          <a:prstGeom prst="rect">
            <a:avLst/>
          </a:prstGeom>
          <a:noFill/>
          <a:ln>
            <a:noFill/>
          </a:ln>
        </p:spPr>
      </p:pic>
      <p:pic>
        <p:nvPicPr>
          <p:cNvPr id="155" name="Google Shape;155;p21"/>
          <p:cNvPicPr preferRelativeResize="0"/>
          <p:nvPr/>
        </p:nvPicPr>
        <p:blipFill>
          <a:blip r:embed="rId4">
            <a:alphaModFix/>
          </a:blip>
          <a:stretch>
            <a:fillRect/>
          </a:stretch>
        </p:blipFill>
        <p:spPr>
          <a:xfrm>
            <a:off x="5885618" y="947025"/>
            <a:ext cx="1210357" cy="607800"/>
          </a:xfrm>
          <a:prstGeom prst="rect">
            <a:avLst/>
          </a:prstGeom>
          <a:noFill/>
          <a:ln>
            <a:noFill/>
          </a:ln>
        </p:spPr>
      </p:pic>
      <p:pic>
        <p:nvPicPr>
          <p:cNvPr id="156" name="Google Shape;156;p21"/>
          <p:cNvPicPr preferRelativeResize="0"/>
          <p:nvPr/>
        </p:nvPicPr>
        <p:blipFill>
          <a:blip r:embed="rId4">
            <a:alphaModFix/>
          </a:blip>
          <a:stretch>
            <a:fillRect/>
          </a:stretch>
        </p:blipFill>
        <p:spPr>
          <a:xfrm>
            <a:off x="5990818" y="3194075"/>
            <a:ext cx="1210357" cy="607800"/>
          </a:xfrm>
          <a:prstGeom prst="rect">
            <a:avLst/>
          </a:prstGeom>
          <a:noFill/>
          <a:ln>
            <a:noFill/>
          </a:ln>
        </p:spPr>
      </p:pic>
      <p:pic>
        <p:nvPicPr>
          <p:cNvPr id="157" name="Google Shape;157;p21"/>
          <p:cNvPicPr preferRelativeResize="0"/>
          <p:nvPr/>
        </p:nvPicPr>
        <p:blipFill>
          <a:blip r:embed="rId4">
            <a:alphaModFix/>
          </a:blip>
          <a:stretch>
            <a:fillRect/>
          </a:stretch>
        </p:blipFill>
        <p:spPr>
          <a:xfrm>
            <a:off x="2832193" y="3857675"/>
            <a:ext cx="1210357" cy="607800"/>
          </a:xfrm>
          <a:prstGeom prst="rect">
            <a:avLst/>
          </a:prstGeom>
          <a:noFill/>
          <a:ln>
            <a:noFill/>
          </a:ln>
        </p:spPr>
      </p:pic>
      <p:sp>
        <p:nvSpPr>
          <p:cNvPr id="158" name="Google Shape;158;p21"/>
          <p:cNvSpPr txBox="1"/>
          <p:nvPr/>
        </p:nvSpPr>
        <p:spPr>
          <a:xfrm>
            <a:off x="1667300" y="1753800"/>
            <a:ext cx="404100" cy="16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100">
                <a:solidFill>
                  <a:schemeClr val="dk2"/>
                </a:solidFill>
                <a:latin typeface="Roboto"/>
                <a:ea typeface="Roboto"/>
                <a:cs typeface="Roboto"/>
                <a:sym typeface="Roboto"/>
              </a:rPr>
              <a:t>1</a:t>
            </a:r>
            <a:endParaRPr sz="1100">
              <a:solidFill>
                <a:schemeClr val="dk2"/>
              </a:solidFill>
              <a:latin typeface="Roboto"/>
              <a:ea typeface="Roboto"/>
              <a:cs typeface="Roboto"/>
              <a:sym typeface="Roboto"/>
            </a:endParaRPr>
          </a:p>
        </p:txBody>
      </p:sp>
      <p:sp>
        <p:nvSpPr>
          <p:cNvPr id="159" name="Google Shape;159;p21"/>
          <p:cNvSpPr txBox="1"/>
          <p:nvPr/>
        </p:nvSpPr>
        <p:spPr>
          <a:xfrm>
            <a:off x="2352500" y="1753800"/>
            <a:ext cx="404100" cy="16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100">
                <a:solidFill>
                  <a:schemeClr val="dk2"/>
                </a:solidFill>
                <a:latin typeface="Roboto"/>
                <a:ea typeface="Roboto"/>
                <a:cs typeface="Roboto"/>
                <a:sym typeface="Roboto"/>
              </a:rPr>
              <a:t>0</a:t>
            </a:r>
            <a:endParaRPr sz="1100">
              <a:solidFill>
                <a:schemeClr val="dk2"/>
              </a:solidFill>
              <a:latin typeface="Roboto"/>
              <a:ea typeface="Roboto"/>
              <a:cs typeface="Roboto"/>
              <a:sym typeface="Roboto"/>
            </a:endParaRPr>
          </a:p>
        </p:txBody>
      </p:sp>
      <p:sp>
        <p:nvSpPr>
          <p:cNvPr id="160" name="Google Shape;160;p21"/>
          <p:cNvSpPr txBox="1"/>
          <p:nvPr/>
        </p:nvSpPr>
        <p:spPr>
          <a:xfrm>
            <a:off x="1667300" y="2032050"/>
            <a:ext cx="404100" cy="16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100">
                <a:solidFill>
                  <a:schemeClr val="dk2"/>
                </a:solidFill>
                <a:latin typeface="Roboto"/>
                <a:ea typeface="Roboto"/>
                <a:cs typeface="Roboto"/>
                <a:sym typeface="Roboto"/>
              </a:rPr>
              <a:t>0</a:t>
            </a:r>
            <a:endParaRPr sz="1100">
              <a:solidFill>
                <a:schemeClr val="dk2"/>
              </a:solidFill>
              <a:latin typeface="Roboto"/>
              <a:ea typeface="Roboto"/>
              <a:cs typeface="Roboto"/>
              <a:sym typeface="Roboto"/>
            </a:endParaRPr>
          </a:p>
        </p:txBody>
      </p:sp>
      <p:sp>
        <p:nvSpPr>
          <p:cNvPr id="161" name="Google Shape;161;p21"/>
          <p:cNvSpPr txBox="1"/>
          <p:nvPr/>
        </p:nvSpPr>
        <p:spPr>
          <a:xfrm>
            <a:off x="3638450" y="1168275"/>
            <a:ext cx="404100" cy="16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100">
                <a:solidFill>
                  <a:schemeClr val="dk2"/>
                </a:solidFill>
                <a:latin typeface="Roboto"/>
                <a:ea typeface="Roboto"/>
                <a:cs typeface="Roboto"/>
                <a:sym typeface="Roboto"/>
              </a:rPr>
              <a:t>7</a:t>
            </a:r>
            <a:endParaRPr sz="1100">
              <a:solidFill>
                <a:schemeClr val="dk2"/>
              </a:solidFill>
              <a:latin typeface="Roboto"/>
              <a:ea typeface="Roboto"/>
              <a:cs typeface="Roboto"/>
              <a:sym typeface="Roboto"/>
            </a:endParaRPr>
          </a:p>
        </p:txBody>
      </p:sp>
      <p:sp>
        <p:nvSpPr>
          <p:cNvPr id="162" name="Google Shape;162;p21"/>
          <p:cNvSpPr txBox="1"/>
          <p:nvPr/>
        </p:nvSpPr>
        <p:spPr>
          <a:xfrm>
            <a:off x="2914375" y="4134875"/>
            <a:ext cx="404100" cy="33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100">
                <a:solidFill>
                  <a:schemeClr val="dk2"/>
                </a:solidFill>
                <a:latin typeface="Roboto"/>
                <a:ea typeface="Roboto"/>
                <a:cs typeface="Roboto"/>
                <a:sym typeface="Roboto"/>
              </a:rPr>
              <a:t>1</a:t>
            </a:r>
            <a:endParaRPr sz="1100">
              <a:solidFill>
                <a:schemeClr val="dk2"/>
              </a:solidFill>
              <a:latin typeface="Roboto"/>
              <a:ea typeface="Roboto"/>
              <a:cs typeface="Roboto"/>
              <a:sym typeface="Roboto"/>
            </a:endParaRPr>
          </a:p>
        </p:txBody>
      </p:sp>
      <p:sp>
        <p:nvSpPr>
          <p:cNvPr id="163" name="Google Shape;163;p21"/>
          <p:cNvSpPr txBox="1"/>
          <p:nvPr/>
        </p:nvSpPr>
        <p:spPr>
          <a:xfrm>
            <a:off x="2914375" y="3857675"/>
            <a:ext cx="456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solidFill>
                  <a:schemeClr val="dk2"/>
                </a:solidFill>
                <a:latin typeface="Roboto"/>
                <a:ea typeface="Roboto"/>
                <a:cs typeface="Roboto"/>
                <a:sym typeface="Roboto"/>
              </a:rPr>
              <a:t>2</a:t>
            </a:r>
            <a:endParaRPr/>
          </a:p>
        </p:txBody>
      </p:sp>
      <p:sp>
        <p:nvSpPr>
          <p:cNvPr id="164" name="Google Shape;164;p21"/>
          <p:cNvSpPr txBox="1"/>
          <p:nvPr/>
        </p:nvSpPr>
        <p:spPr>
          <a:xfrm>
            <a:off x="3586550" y="3857675"/>
            <a:ext cx="456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solidFill>
                  <a:schemeClr val="dk2"/>
                </a:solidFill>
                <a:latin typeface="Roboto"/>
                <a:ea typeface="Roboto"/>
                <a:cs typeface="Roboto"/>
                <a:sym typeface="Roboto"/>
              </a:rPr>
              <a:t>1</a:t>
            </a:r>
            <a:endParaRPr/>
          </a:p>
        </p:txBody>
      </p:sp>
      <p:sp>
        <p:nvSpPr>
          <p:cNvPr id="165" name="Google Shape;165;p21"/>
          <p:cNvSpPr txBox="1"/>
          <p:nvPr/>
        </p:nvSpPr>
        <p:spPr>
          <a:xfrm>
            <a:off x="5930125" y="1242700"/>
            <a:ext cx="456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solidFill>
                  <a:schemeClr val="dk2"/>
                </a:solidFill>
                <a:latin typeface="Roboto"/>
                <a:ea typeface="Roboto"/>
                <a:cs typeface="Roboto"/>
                <a:sym typeface="Roboto"/>
              </a:rPr>
              <a:t>3</a:t>
            </a:r>
            <a:endParaRPr/>
          </a:p>
        </p:txBody>
      </p:sp>
      <p:sp>
        <p:nvSpPr>
          <p:cNvPr id="166" name="Google Shape;166;p21"/>
          <p:cNvSpPr txBox="1"/>
          <p:nvPr/>
        </p:nvSpPr>
        <p:spPr>
          <a:xfrm>
            <a:off x="5990825" y="3503675"/>
            <a:ext cx="456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solidFill>
                  <a:schemeClr val="dk2"/>
                </a:solidFill>
                <a:latin typeface="Roboto"/>
                <a:ea typeface="Roboto"/>
                <a:cs typeface="Roboto"/>
                <a:sym typeface="Roboto"/>
              </a:rPr>
              <a:t>8</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2"/>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Dijkstra’s algorithm</a:t>
            </a:r>
            <a:endParaRPr/>
          </a:p>
        </p:txBody>
      </p:sp>
      <p:pic>
        <p:nvPicPr>
          <p:cNvPr id="172" name="Google Shape;172;p22"/>
          <p:cNvPicPr preferRelativeResize="0"/>
          <p:nvPr/>
        </p:nvPicPr>
        <p:blipFill>
          <a:blip r:embed="rId3">
            <a:alphaModFix/>
          </a:blip>
          <a:stretch>
            <a:fillRect/>
          </a:stretch>
        </p:blipFill>
        <p:spPr>
          <a:xfrm>
            <a:off x="2071400" y="947025"/>
            <a:ext cx="4459125" cy="3567300"/>
          </a:xfrm>
          <a:prstGeom prst="rect">
            <a:avLst/>
          </a:prstGeom>
          <a:noFill/>
          <a:ln>
            <a:noFill/>
          </a:ln>
        </p:spPr>
      </p:pic>
      <p:pic>
        <p:nvPicPr>
          <p:cNvPr id="173" name="Google Shape;173;p22"/>
          <p:cNvPicPr preferRelativeResize="0"/>
          <p:nvPr/>
        </p:nvPicPr>
        <p:blipFill>
          <a:blip r:embed="rId4">
            <a:alphaModFix/>
          </a:blip>
          <a:stretch>
            <a:fillRect/>
          </a:stretch>
        </p:blipFill>
        <p:spPr>
          <a:xfrm>
            <a:off x="1546243" y="1753800"/>
            <a:ext cx="1210357" cy="607800"/>
          </a:xfrm>
          <a:prstGeom prst="rect">
            <a:avLst/>
          </a:prstGeom>
          <a:noFill/>
          <a:ln>
            <a:noFill/>
          </a:ln>
        </p:spPr>
      </p:pic>
      <p:pic>
        <p:nvPicPr>
          <p:cNvPr id="174" name="Google Shape;174;p22"/>
          <p:cNvPicPr preferRelativeResize="0"/>
          <p:nvPr/>
        </p:nvPicPr>
        <p:blipFill>
          <a:blip r:embed="rId4">
            <a:alphaModFix/>
          </a:blip>
          <a:stretch>
            <a:fillRect/>
          </a:stretch>
        </p:blipFill>
        <p:spPr>
          <a:xfrm>
            <a:off x="3617618" y="899525"/>
            <a:ext cx="1210357" cy="607800"/>
          </a:xfrm>
          <a:prstGeom prst="rect">
            <a:avLst/>
          </a:prstGeom>
          <a:noFill/>
          <a:ln>
            <a:noFill/>
          </a:ln>
        </p:spPr>
      </p:pic>
      <p:pic>
        <p:nvPicPr>
          <p:cNvPr id="175" name="Google Shape;175;p22"/>
          <p:cNvPicPr preferRelativeResize="0"/>
          <p:nvPr/>
        </p:nvPicPr>
        <p:blipFill>
          <a:blip r:embed="rId4">
            <a:alphaModFix/>
          </a:blip>
          <a:stretch>
            <a:fillRect/>
          </a:stretch>
        </p:blipFill>
        <p:spPr>
          <a:xfrm>
            <a:off x="5885618" y="947025"/>
            <a:ext cx="1210357" cy="607800"/>
          </a:xfrm>
          <a:prstGeom prst="rect">
            <a:avLst/>
          </a:prstGeom>
          <a:noFill/>
          <a:ln>
            <a:noFill/>
          </a:ln>
        </p:spPr>
      </p:pic>
      <p:pic>
        <p:nvPicPr>
          <p:cNvPr id="176" name="Google Shape;176;p22"/>
          <p:cNvPicPr preferRelativeResize="0"/>
          <p:nvPr/>
        </p:nvPicPr>
        <p:blipFill>
          <a:blip r:embed="rId4">
            <a:alphaModFix/>
          </a:blip>
          <a:stretch>
            <a:fillRect/>
          </a:stretch>
        </p:blipFill>
        <p:spPr>
          <a:xfrm>
            <a:off x="5990818" y="3194075"/>
            <a:ext cx="1210357" cy="607800"/>
          </a:xfrm>
          <a:prstGeom prst="rect">
            <a:avLst/>
          </a:prstGeom>
          <a:noFill/>
          <a:ln>
            <a:noFill/>
          </a:ln>
        </p:spPr>
      </p:pic>
      <p:pic>
        <p:nvPicPr>
          <p:cNvPr id="177" name="Google Shape;177;p22"/>
          <p:cNvPicPr preferRelativeResize="0"/>
          <p:nvPr/>
        </p:nvPicPr>
        <p:blipFill>
          <a:blip r:embed="rId4">
            <a:alphaModFix/>
          </a:blip>
          <a:stretch>
            <a:fillRect/>
          </a:stretch>
        </p:blipFill>
        <p:spPr>
          <a:xfrm>
            <a:off x="2832193" y="3857675"/>
            <a:ext cx="1210357" cy="607800"/>
          </a:xfrm>
          <a:prstGeom prst="rect">
            <a:avLst/>
          </a:prstGeom>
          <a:noFill/>
          <a:ln>
            <a:noFill/>
          </a:ln>
        </p:spPr>
      </p:pic>
      <p:sp>
        <p:nvSpPr>
          <p:cNvPr id="178" name="Google Shape;178;p22"/>
          <p:cNvSpPr txBox="1"/>
          <p:nvPr/>
        </p:nvSpPr>
        <p:spPr>
          <a:xfrm>
            <a:off x="1667300" y="1753800"/>
            <a:ext cx="404100" cy="16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100">
                <a:solidFill>
                  <a:schemeClr val="dk2"/>
                </a:solidFill>
                <a:latin typeface="Roboto"/>
                <a:ea typeface="Roboto"/>
                <a:cs typeface="Roboto"/>
                <a:sym typeface="Roboto"/>
              </a:rPr>
              <a:t>1</a:t>
            </a:r>
            <a:endParaRPr sz="1100">
              <a:solidFill>
                <a:schemeClr val="dk2"/>
              </a:solidFill>
              <a:latin typeface="Roboto"/>
              <a:ea typeface="Roboto"/>
              <a:cs typeface="Roboto"/>
              <a:sym typeface="Roboto"/>
            </a:endParaRPr>
          </a:p>
        </p:txBody>
      </p:sp>
      <p:sp>
        <p:nvSpPr>
          <p:cNvPr id="179" name="Google Shape;179;p22"/>
          <p:cNvSpPr txBox="1"/>
          <p:nvPr/>
        </p:nvSpPr>
        <p:spPr>
          <a:xfrm>
            <a:off x="2352500" y="1753800"/>
            <a:ext cx="404100" cy="16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100">
                <a:solidFill>
                  <a:schemeClr val="dk2"/>
                </a:solidFill>
                <a:latin typeface="Roboto"/>
                <a:ea typeface="Roboto"/>
                <a:cs typeface="Roboto"/>
                <a:sym typeface="Roboto"/>
              </a:rPr>
              <a:t>0</a:t>
            </a:r>
            <a:endParaRPr sz="1100">
              <a:solidFill>
                <a:schemeClr val="dk2"/>
              </a:solidFill>
              <a:latin typeface="Roboto"/>
              <a:ea typeface="Roboto"/>
              <a:cs typeface="Roboto"/>
              <a:sym typeface="Roboto"/>
            </a:endParaRPr>
          </a:p>
        </p:txBody>
      </p:sp>
      <p:sp>
        <p:nvSpPr>
          <p:cNvPr id="180" name="Google Shape;180;p22"/>
          <p:cNvSpPr txBox="1"/>
          <p:nvPr/>
        </p:nvSpPr>
        <p:spPr>
          <a:xfrm>
            <a:off x="1667300" y="2032050"/>
            <a:ext cx="404100" cy="16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100">
                <a:solidFill>
                  <a:schemeClr val="dk2"/>
                </a:solidFill>
                <a:latin typeface="Roboto"/>
                <a:ea typeface="Roboto"/>
                <a:cs typeface="Roboto"/>
                <a:sym typeface="Roboto"/>
              </a:rPr>
              <a:t>0</a:t>
            </a:r>
            <a:endParaRPr sz="1100">
              <a:solidFill>
                <a:schemeClr val="dk2"/>
              </a:solidFill>
              <a:latin typeface="Roboto"/>
              <a:ea typeface="Roboto"/>
              <a:cs typeface="Roboto"/>
              <a:sym typeface="Roboto"/>
            </a:endParaRPr>
          </a:p>
        </p:txBody>
      </p:sp>
      <p:sp>
        <p:nvSpPr>
          <p:cNvPr id="181" name="Google Shape;181;p22"/>
          <p:cNvSpPr txBox="1"/>
          <p:nvPr/>
        </p:nvSpPr>
        <p:spPr>
          <a:xfrm>
            <a:off x="3638450" y="1168275"/>
            <a:ext cx="404100" cy="16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100">
                <a:solidFill>
                  <a:schemeClr val="dk2"/>
                </a:solidFill>
                <a:latin typeface="Roboto"/>
                <a:ea typeface="Roboto"/>
                <a:cs typeface="Roboto"/>
                <a:sym typeface="Roboto"/>
              </a:rPr>
              <a:t>7/</a:t>
            </a:r>
            <a:r>
              <a:rPr b="1" lang="en-GB" sz="1100">
                <a:solidFill>
                  <a:schemeClr val="dk2"/>
                </a:solidFill>
                <a:latin typeface="Roboto"/>
                <a:ea typeface="Roboto"/>
                <a:cs typeface="Roboto"/>
                <a:sym typeface="Roboto"/>
              </a:rPr>
              <a:t>6</a:t>
            </a:r>
            <a:endParaRPr b="1" sz="1100">
              <a:solidFill>
                <a:schemeClr val="dk2"/>
              </a:solidFill>
              <a:latin typeface="Roboto"/>
              <a:ea typeface="Roboto"/>
              <a:cs typeface="Roboto"/>
              <a:sym typeface="Roboto"/>
            </a:endParaRPr>
          </a:p>
        </p:txBody>
      </p:sp>
      <p:sp>
        <p:nvSpPr>
          <p:cNvPr id="182" name="Google Shape;182;p22"/>
          <p:cNvSpPr txBox="1"/>
          <p:nvPr/>
        </p:nvSpPr>
        <p:spPr>
          <a:xfrm>
            <a:off x="2914375" y="4134875"/>
            <a:ext cx="404100" cy="33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100">
                <a:solidFill>
                  <a:schemeClr val="dk2"/>
                </a:solidFill>
                <a:latin typeface="Roboto"/>
                <a:ea typeface="Roboto"/>
                <a:cs typeface="Roboto"/>
                <a:sym typeface="Roboto"/>
              </a:rPr>
              <a:t>1</a:t>
            </a:r>
            <a:endParaRPr sz="1100">
              <a:solidFill>
                <a:schemeClr val="dk2"/>
              </a:solidFill>
              <a:latin typeface="Roboto"/>
              <a:ea typeface="Roboto"/>
              <a:cs typeface="Roboto"/>
              <a:sym typeface="Roboto"/>
            </a:endParaRPr>
          </a:p>
        </p:txBody>
      </p:sp>
      <p:sp>
        <p:nvSpPr>
          <p:cNvPr id="183" name="Google Shape;183;p22"/>
          <p:cNvSpPr txBox="1"/>
          <p:nvPr/>
        </p:nvSpPr>
        <p:spPr>
          <a:xfrm>
            <a:off x="2914375" y="3857675"/>
            <a:ext cx="456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solidFill>
                  <a:schemeClr val="dk2"/>
                </a:solidFill>
                <a:latin typeface="Roboto"/>
                <a:ea typeface="Roboto"/>
                <a:cs typeface="Roboto"/>
                <a:sym typeface="Roboto"/>
              </a:rPr>
              <a:t>2</a:t>
            </a:r>
            <a:endParaRPr/>
          </a:p>
        </p:txBody>
      </p:sp>
      <p:sp>
        <p:nvSpPr>
          <p:cNvPr id="184" name="Google Shape;184;p22"/>
          <p:cNvSpPr txBox="1"/>
          <p:nvPr/>
        </p:nvSpPr>
        <p:spPr>
          <a:xfrm>
            <a:off x="3586550" y="3857675"/>
            <a:ext cx="456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solidFill>
                  <a:schemeClr val="dk2"/>
                </a:solidFill>
                <a:latin typeface="Roboto"/>
                <a:ea typeface="Roboto"/>
                <a:cs typeface="Roboto"/>
                <a:sym typeface="Roboto"/>
              </a:rPr>
              <a:t>1</a:t>
            </a:r>
            <a:endParaRPr/>
          </a:p>
        </p:txBody>
      </p:sp>
      <p:sp>
        <p:nvSpPr>
          <p:cNvPr id="185" name="Google Shape;185;p22"/>
          <p:cNvSpPr txBox="1"/>
          <p:nvPr/>
        </p:nvSpPr>
        <p:spPr>
          <a:xfrm>
            <a:off x="5930125" y="1242700"/>
            <a:ext cx="456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solidFill>
                  <a:schemeClr val="dk2"/>
                </a:solidFill>
                <a:latin typeface="Roboto"/>
                <a:ea typeface="Roboto"/>
                <a:cs typeface="Roboto"/>
                <a:sym typeface="Roboto"/>
              </a:rPr>
              <a:t>3</a:t>
            </a:r>
            <a:endParaRPr/>
          </a:p>
        </p:txBody>
      </p:sp>
      <p:sp>
        <p:nvSpPr>
          <p:cNvPr id="186" name="Google Shape;186;p22"/>
          <p:cNvSpPr txBox="1"/>
          <p:nvPr/>
        </p:nvSpPr>
        <p:spPr>
          <a:xfrm>
            <a:off x="5990825" y="3503675"/>
            <a:ext cx="456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solidFill>
                  <a:schemeClr val="dk2"/>
                </a:solidFill>
                <a:latin typeface="Roboto"/>
                <a:ea typeface="Roboto"/>
                <a:cs typeface="Roboto"/>
                <a:sym typeface="Roboto"/>
              </a:rPr>
              <a:t>8</a:t>
            </a:r>
            <a:endParaRPr/>
          </a:p>
        </p:txBody>
      </p:sp>
      <p:sp>
        <p:nvSpPr>
          <p:cNvPr id="187" name="Google Shape;187;p22"/>
          <p:cNvSpPr txBox="1"/>
          <p:nvPr/>
        </p:nvSpPr>
        <p:spPr>
          <a:xfrm>
            <a:off x="5930125" y="947025"/>
            <a:ext cx="456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solidFill>
                  <a:schemeClr val="dk2"/>
                </a:solidFill>
                <a:latin typeface="Roboto"/>
                <a:ea typeface="Roboto"/>
                <a:cs typeface="Roboto"/>
                <a:sym typeface="Roboto"/>
              </a:rPr>
              <a:t>3</a:t>
            </a:r>
            <a:endParaRPr/>
          </a:p>
        </p:txBody>
      </p:sp>
      <p:sp>
        <p:nvSpPr>
          <p:cNvPr id="188" name="Google Shape;188;p22"/>
          <p:cNvSpPr txBox="1"/>
          <p:nvPr/>
        </p:nvSpPr>
        <p:spPr>
          <a:xfrm>
            <a:off x="6580350" y="947025"/>
            <a:ext cx="456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solidFill>
                  <a:schemeClr val="dk2"/>
                </a:solidFill>
                <a:latin typeface="Roboto"/>
                <a:ea typeface="Roboto"/>
                <a:cs typeface="Roboto"/>
                <a:sym typeface="Roboto"/>
              </a:rPr>
              <a:t>3</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3"/>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Dijkstra’s algorithm</a:t>
            </a:r>
            <a:endParaRPr/>
          </a:p>
        </p:txBody>
      </p:sp>
      <p:pic>
        <p:nvPicPr>
          <p:cNvPr id="194" name="Google Shape;194;p23"/>
          <p:cNvPicPr preferRelativeResize="0"/>
          <p:nvPr/>
        </p:nvPicPr>
        <p:blipFill>
          <a:blip r:embed="rId3">
            <a:alphaModFix/>
          </a:blip>
          <a:stretch>
            <a:fillRect/>
          </a:stretch>
        </p:blipFill>
        <p:spPr>
          <a:xfrm>
            <a:off x="2071400" y="947025"/>
            <a:ext cx="4459125" cy="3567300"/>
          </a:xfrm>
          <a:prstGeom prst="rect">
            <a:avLst/>
          </a:prstGeom>
          <a:noFill/>
          <a:ln>
            <a:noFill/>
          </a:ln>
        </p:spPr>
      </p:pic>
      <p:pic>
        <p:nvPicPr>
          <p:cNvPr id="195" name="Google Shape;195;p23"/>
          <p:cNvPicPr preferRelativeResize="0"/>
          <p:nvPr/>
        </p:nvPicPr>
        <p:blipFill>
          <a:blip r:embed="rId4">
            <a:alphaModFix/>
          </a:blip>
          <a:stretch>
            <a:fillRect/>
          </a:stretch>
        </p:blipFill>
        <p:spPr>
          <a:xfrm>
            <a:off x="1546243" y="1753800"/>
            <a:ext cx="1210357" cy="607800"/>
          </a:xfrm>
          <a:prstGeom prst="rect">
            <a:avLst/>
          </a:prstGeom>
          <a:noFill/>
          <a:ln>
            <a:noFill/>
          </a:ln>
        </p:spPr>
      </p:pic>
      <p:pic>
        <p:nvPicPr>
          <p:cNvPr id="196" name="Google Shape;196;p23"/>
          <p:cNvPicPr preferRelativeResize="0"/>
          <p:nvPr/>
        </p:nvPicPr>
        <p:blipFill>
          <a:blip r:embed="rId4">
            <a:alphaModFix/>
          </a:blip>
          <a:stretch>
            <a:fillRect/>
          </a:stretch>
        </p:blipFill>
        <p:spPr>
          <a:xfrm>
            <a:off x="3617618" y="899525"/>
            <a:ext cx="1210357" cy="607800"/>
          </a:xfrm>
          <a:prstGeom prst="rect">
            <a:avLst/>
          </a:prstGeom>
          <a:noFill/>
          <a:ln>
            <a:noFill/>
          </a:ln>
        </p:spPr>
      </p:pic>
      <p:pic>
        <p:nvPicPr>
          <p:cNvPr id="197" name="Google Shape;197;p23"/>
          <p:cNvPicPr preferRelativeResize="0"/>
          <p:nvPr/>
        </p:nvPicPr>
        <p:blipFill>
          <a:blip r:embed="rId4">
            <a:alphaModFix/>
          </a:blip>
          <a:stretch>
            <a:fillRect/>
          </a:stretch>
        </p:blipFill>
        <p:spPr>
          <a:xfrm>
            <a:off x="5885618" y="947025"/>
            <a:ext cx="1210357" cy="607800"/>
          </a:xfrm>
          <a:prstGeom prst="rect">
            <a:avLst/>
          </a:prstGeom>
          <a:noFill/>
          <a:ln>
            <a:noFill/>
          </a:ln>
        </p:spPr>
      </p:pic>
      <p:pic>
        <p:nvPicPr>
          <p:cNvPr id="198" name="Google Shape;198;p23"/>
          <p:cNvPicPr preferRelativeResize="0"/>
          <p:nvPr/>
        </p:nvPicPr>
        <p:blipFill>
          <a:blip r:embed="rId4">
            <a:alphaModFix/>
          </a:blip>
          <a:stretch>
            <a:fillRect/>
          </a:stretch>
        </p:blipFill>
        <p:spPr>
          <a:xfrm>
            <a:off x="5990818" y="3194075"/>
            <a:ext cx="1210357" cy="607800"/>
          </a:xfrm>
          <a:prstGeom prst="rect">
            <a:avLst/>
          </a:prstGeom>
          <a:noFill/>
          <a:ln>
            <a:noFill/>
          </a:ln>
        </p:spPr>
      </p:pic>
      <p:pic>
        <p:nvPicPr>
          <p:cNvPr id="199" name="Google Shape;199;p23"/>
          <p:cNvPicPr preferRelativeResize="0"/>
          <p:nvPr/>
        </p:nvPicPr>
        <p:blipFill>
          <a:blip r:embed="rId4">
            <a:alphaModFix/>
          </a:blip>
          <a:stretch>
            <a:fillRect/>
          </a:stretch>
        </p:blipFill>
        <p:spPr>
          <a:xfrm>
            <a:off x="2832193" y="3857675"/>
            <a:ext cx="1210357" cy="607800"/>
          </a:xfrm>
          <a:prstGeom prst="rect">
            <a:avLst/>
          </a:prstGeom>
          <a:noFill/>
          <a:ln>
            <a:noFill/>
          </a:ln>
        </p:spPr>
      </p:pic>
      <p:sp>
        <p:nvSpPr>
          <p:cNvPr id="200" name="Google Shape;200;p23"/>
          <p:cNvSpPr txBox="1"/>
          <p:nvPr/>
        </p:nvSpPr>
        <p:spPr>
          <a:xfrm>
            <a:off x="1667300" y="1753800"/>
            <a:ext cx="404100" cy="16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100">
                <a:solidFill>
                  <a:schemeClr val="dk2"/>
                </a:solidFill>
                <a:latin typeface="Roboto"/>
                <a:ea typeface="Roboto"/>
                <a:cs typeface="Roboto"/>
                <a:sym typeface="Roboto"/>
              </a:rPr>
              <a:t>1</a:t>
            </a:r>
            <a:endParaRPr sz="1100">
              <a:solidFill>
                <a:schemeClr val="dk2"/>
              </a:solidFill>
              <a:latin typeface="Roboto"/>
              <a:ea typeface="Roboto"/>
              <a:cs typeface="Roboto"/>
              <a:sym typeface="Roboto"/>
            </a:endParaRPr>
          </a:p>
        </p:txBody>
      </p:sp>
      <p:sp>
        <p:nvSpPr>
          <p:cNvPr id="201" name="Google Shape;201;p23"/>
          <p:cNvSpPr txBox="1"/>
          <p:nvPr/>
        </p:nvSpPr>
        <p:spPr>
          <a:xfrm>
            <a:off x="2352500" y="1753800"/>
            <a:ext cx="404100" cy="16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100">
                <a:solidFill>
                  <a:schemeClr val="dk2"/>
                </a:solidFill>
                <a:latin typeface="Roboto"/>
                <a:ea typeface="Roboto"/>
                <a:cs typeface="Roboto"/>
                <a:sym typeface="Roboto"/>
              </a:rPr>
              <a:t>0</a:t>
            </a:r>
            <a:endParaRPr sz="1100">
              <a:solidFill>
                <a:schemeClr val="dk2"/>
              </a:solidFill>
              <a:latin typeface="Roboto"/>
              <a:ea typeface="Roboto"/>
              <a:cs typeface="Roboto"/>
              <a:sym typeface="Roboto"/>
            </a:endParaRPr>
          </a:p>
        </p:txBody>
      </p:sp>
      <p:sp>
        <p:nvSpPr>
          <p:cNvPr id="202" name="Google Shape;202;p23"/>
          <p:cNvSpPr txBox="1"/>
          <p:nvPr/>
        </p:nvSpPr>
        <p:spPr>
          <a:xfrm>
            <a:off x="1667300" y="2032050"/>
            <a:ext cx="404100" cy="16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100">
                <a:solidFill>
                  <a:schemeClr val="dk2"/>
                </a:solidFill>
                <a:latin typeface="Roboto"/>
                <a:ea typeface="Roboto"/>
                <a:cs typeface="Roboto"/>
                <a:sym typeface="Roboto"/>
              </a:rPr>
              <a:t>0</a:t>
            </a:r>
            <a:endParaRPr sz="1100">
              <a:solidFill>
                <a:schemeClr val="dk2"/>
              </a:solidFill>
              <a:latin typeface="Roboto"/>
              <a:ea typeface="Roboto"/>
              <a:cs typeface="Roboto"/>
              <a:sym typeface="Roboto"/>
            </a:endParaRPr>
          </a:p>
        </p:txBody>
      </p:sp>
      <p:sp>
        <p:nvSpPr>
          <p:cNvPr id="203" name="Google Shape;203;p23"/>
          <p:cNvSpPr txBox="1"/>
          <p:nvPr/>
        </p:nvSpPr>
        <p:spPr>
          <a:xfrm>
            <a:off x="3638450" y="1168275"/>
            <a:ext cx="404100" cy="16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100">
                <a:solidFill>
                  <a:schemeClr val="dk2"/>
                </a:solidFill>
                <a:latin typeface="Roboto"/>
                <a:ea typeface="Roboto"/>
                <a:cs typeface="Roboto"/>
                <a:sym typeface="Roboto"/>
              </a:rPr>
              <a:t>7/</a:t>
            </a:r>
            <a:r>
              <a:rPr b="1" lang="en-GB" sz="1100">
                <a:solidFill>
                  <a:schemeClr val="dk2"/>
                </a:solidFill>
                <a:latin typeface="Roboto"/>
                <a:ea typeface="Roboto"/>
                <a:cs typeface="Roboto"/>
                <a:sym typeface="Roboto"/>
              </a:rPr>
              <a:t>6</a:t>
            </a:r>
            <a:endParaRPr b="1" sz="1100">
              <a:solidFill>
                <a:schemeClr val="dk2"/>
              </a:solidFill>
              <a:latin typeface="Roboto"/>
              <a:ea typeface="Roboto"/>
              <a:cs typeface="Roboto"/>
              <a:sym typeface="Roboto"/>
            </a:endParaRPr>
          </a:p>
        </p:txBody>
      </p:sp>
      <p:sp>
        <p:nvSpPr>
          <p:cNvPr id="204" name="Google Shape;204;p23"/>
          <p:cNvSpPr txBox="1"/>
          <p:nvPr/>
        </p:nvSpPr>
        <p:spPr>
          <a:xfrm>
            <a:off x="2914375" y="4134875"/>
            <a:ext cx="404100" cy="33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100">
                <a:solidFill>
                  <a:schemeClr val="dk2"/>
                </a:solidFill>
                <a:latin typeface="Roboto"/>
                <a:ea typeface="Roboto"/>
                <a:cs typeface="Roboto"/>
                <a:sym typeface="Roboto"/>
              </a:rPr>
              <a:t>1</a:t>
            </a:r>
            <a:endParaRPr sz="1100">
              <a:solidFill>
                <a:schemeClr val="dk2"/>
              </a:solidFill>
              <a:latin typeface="Roboto"/>
              <a:ea typeface="Roboto"/>
              <a:cs typeface="Roboto"/>
              <a:sym typeface="Roboto"/>
            </a:endParaRPr>
          </a:p>
        </p:txBody>
      </p:sp>
      <p:sp>
        <p:nvSpPr>
          <p:cNvPr id="205" name="Google Shape;205;p23"/>
          <p:cNvSpPr txBox="1"/>
          <p:nvPr/>
        </p:nvSpPr>
        <p:spPr>
          <a:xfrm>
            <a:off x="2914375" y="3857675"/>
            <a:ext cx="456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solidFill>
                  <a:schemeClr val="dk2"/>
                </a:solidFill>
                <a:latin typeface="Roboto"/>
                <a:ea typeface="Roboto"/>
                <a:cs typeface="Roboto"/>
                <a:sym typeface="Roboto"/>
              </a:rPr>
              <a:t>2</a:t>
            </a:r>
            <a:endParaRPr/>
          </a:p>
        </p:txBody>
      </p:sp>
      <p:sp>
        <p:nvSpPr>
          <p:cNvPr id="206" name="Google Shape;206;p23"/>
          <p:cNvSpPr txBox="1"/>
          <p:nvPr/>
        </p:nvSpPr>
        <p:spPr>
          <a:xfrm>
            <a:off x="3586550" y="3857675"/>
            <a:ext cx="456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solidFill>
                  <a:schemeClr val="dk2"/>
                </a:solidFill>
                <a:latin typeface="Roboto"/>
                <a:ea typeface="Roboto"/>
                <a:cs typeface="Roboto"/>
                <a:sym typeface="Roboto"/>
              </a:rPr>
              <a:t>1</a:t>
            </a:r>
            <a:endParaRPr/>
          </a:p>
        </p:txBody>
      </p:sp>
      <p:sp>
        <p:nvSpPr>
          <p:cNvPr id="207" name="Google Shape;207;p23"/>
          <p:cNvSpPr txBox="1"/>
          <p:nvPr/>
        </p:nvSpPr>
        <p:spPr>
          <a:xfrm>
            <a:off x="5930125" y="1242700"/>
            <a:ext cx="456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solidFill>
                  <a:schemeClr val="dk2"/>
                </a:solidFill>
                <a:latin typeface="Roboto"/>
                <a:ea typeface="Roboto"/>
                <a:cs typeface="Roboto"/>
                <a:sym typeface="Roboto"/>
              </a:rPr>
              <a:t>3</a:t>
            </a:r>
            <a:endParaRPr/>
          </a:p>
        </p:txBody>
      </p:sp>
      <p:sp>
        <p:nvSpPr>
          <p:cNvPr id="208" name="Google Shape;208;p23"/>
          <p:cNvSpPr txBox="1"/>
          <p:nvPr/>
        </p:nvSpPr>
        <p:spPr>
          <a:xfrm>
            <a:off x="5990825" y="3503675"/>
            <a:ext cx="456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solidFill>
                  <a:schemeClr val="dk2"/>
                </a:solidFill>
                <a:latin typeface="Roboto"/>
                <a:ea typeface="Roboto"/>
                <a:cs typeface="Roboto"/>
                <a:sym typeface="Roboto"/>
              </a:rPr>
              <a:t>8</a:t>
            </a:r>
            <a:endParaRPr/>
          </a:p>
        </p:txBody>
      </p:sp>
      <p:sp>
        <p:nvSpPr>
          <p:cNvPr id="209" name="Google Shape;209;p23"/>
          <p:cNvSpPr txBox="1"/>
          <p:nvPr/>
        </p:nvSpPr>
        <p:spPr>
          <a:xfrm>
            <a:off x="5930125" y="947025"/>
            <a:ext cx="456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solidFill>
                  <a:schemeClr val="dk2"/>
                </a:solidFill>
                <a:latin typeface="Roboto"/>
                <a:ea typeface="Roboto"/>
                <a:cs typeface="Roboto"/>
                <a:sym typeface="Roboto"/>
              </a:rPr>
              <a:t>3</a:t>
            </a:r>
            <a:endParaRPr/>
          </a:p>
        </p:txBody>
      </p:sp>
      <p:sp>
        <p:nvSpPr>
          <p:cNvPr id="210" name="Google Shape;210;p23"/>
          <p:cNvSpPr txBox="1"/>
          <p:nvPr/>
        </p:nvSpPr>
        <p:spPr>
          <a:xfrm>
            <a:off x="6580350" y="947025"/>
            <a:ext cx="456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solidFill>
                  <a:schemeClr val="dk2"/>
                </a:solidFill>
                <a:latin typeface="Roboto"/>
                <a:ea typeface="Roboto"/>
                <a:cs typeface="Roboto"/>
                <a:sym typeface="Roboto"/>
              </a:rPr>
              <a:t>3</a:t>
            </a:r>
            <a:endParaRPr/>
          </a:p>
        </p:txBody>
      </p:sp>
      <p:sp>
        <p:nvSpPr>
          <p:cNvPr id="211" name="Google Shape;211;p23"/>
          <p:cNvSpPr txBox="1"/>
          <p:nvPr/>
        </p:nvSpPr>
        <p:spPr>
          <a:xfrm>
            <a:off x="3638450" y="899525"/>
            <a:ext cx="456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solidFill>
                  <a:schemeClr val="dk2"/>
                </a:solidFill>
                <a:latin typeface="Roboto"/>
                <a:ea typeface="Roboto"/>
                <a:cs typeface="Roboto"/>
                <a:sym typeface="Roboto"/>
              </a:rPr>
              <a:t>4</a:t>
            </a:r>
            <a:endParaRPr/>
          </a:p>
        </p:txBody>
      </p:sp>
      <p:sp>
        <p:nvSpPr>
          <p:cNvPr id="212" name="Google Shape;212;p23"/>
          <p:cNvSpPr txBox="1"/>
          <p:nvPr/>
        </p:nvSpPr>
        <p:spPr>
          <a:xfrm>
            <a:off x="4298500" y="899525"/>
            <a:ext cx="456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solidFill>
                  <a:schemeClr val="dk2"/>
                </a:solidFill>
                <a:latin typeface="Roboto"/>
                <a:ea typeface="Roboto"/>
                <a:cs typeface="Roboto"/>
                <a:sym typeface="Roboto"/>
              </a:rPr>
              <a:t>6</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4"/>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Dijkstra’s algorithm</a:t>
            </a:r>
            <a:endParaRPr/>
          </a:p>
        </p:txBody>
      </p:sp>
      <p:pic>
        <p:nvPicPr>
          <p:cNvPr id="218" name="Google Shape;218;p24"/>
          <p:cNvPicPr preferRelativeResize="0"/>
          <p:nvPr/>
        </p:nvPicPr>
        <p:blipFill>
          <a:blip r:embed="rId3">
            <a:alphaModFix/>
          </a:blip>
          <a:stretch>
            <a:fillRect/>
          </a:stretch>
        </p:blipFill>
        <p:spPr>
          <a:xfrm>
            <a:off x="2071400" y="947025"/>
            <a:ext cx="4459125" cy="3567300"/>
          </a:xfrm>
          <a:prstGeom prst="rect">
            <a:avLst/>
          </a:prstGeom>
          <a:noFill/>
          <a:ln>
            <a:noFill/>
          </a:ln>
        </p:spPr>
      </p:pic>
      <p:pic>
        <p:nvPicPr>
          <p:cNvPr id="219" name="Google Shape;219;p24"/>
          <p:cNvPicPr preferRelativeResize="0"/>
          <p:nvPr/>
        </p:nvPicPr>
        <p:blipFill>
          <a:blip r:embed="rId4">
            <a:alphaModFix/>
          </a:blip>
          <a:stretch>
            <a:fillRect/>
          </a:stretch>
        </p:blipFill>
        <p:spPr>
          <a:xfrm>
            <a:off x="1546243" y="1753800"/>
            <a:ext cx="1210357" cy="607800"/>
          </a:xfrm>
          <a:prstGeom prst="rect">
            <a:avLst/>
          </a:prstGeom>
          <a:noFill/>
          <a:ln>
            <a:noFill/>
          </a:ln>
        </p:spPr>
      </p:pic>
      <p:pic>
        <p:nvPicPr>
          <p:cNvPr id="220" name="Google Shape;220;p24"/>
          <p:cNvPicPr preferRelativeResize="0"/>
          <p:nvPr/>
        </p:nvPicPr>
        <p:blipFill>
          <a:blip r:embed="rId4">
            <a:alphaModFix/>
          </a:blip>
          <a:stretch>
            <a:fillRect/>
          </a:stretch>
        </p:blipFill>
        <p:spPr>
          <a:xfrm>
            <a:off x="3617618" y="899525"/>
            <a:ext cx="1210357" cy="607800"/>
          </a:xfrm>
          <a:prstGeom prst="rect">
            <a:avLst/>
          </a:prstGeom>
          <a:noFill/>
          <a:ln>
            <a:noFill/>
          </a:ln>
        </p:spPr>
      </p:pic>
      <p:pic>
        <p:nvPicPr>
          <p:cNvPr id="221" name="Google Shape;221;p24"/>
          <p:cNvPicPr preferRelativeResize="0"/>
          <p:nvPr/>
        </p:nvPicPr>
        <p:blipFill>
          <a:blip r:embed="rId4">
            <a:alphaModFix/>
          </a:blip>
          <a:stretch>
            <a:fillRect/>
          </a:stretch>
        </p:blipFill>
        <p:spPr>
          <a:xfrm>
            <a:off x="5885618" y="947025"/>
            <a:ext cx="1210357" cy="607800"/>
          </a:xfrm>
          <a:prstGeom prst="rect">
            <a:avLst/>
          </a:prstGeom>
          <a:noFill/>
          <a:ln>
            <a:noFill/>
          </a:ln>
        </p:spPr>
      </p:pic>
      <p:pic>
        <p:nvPicPr>
          <p:cNvPr id="222" name="Google Shape;222;p24"/>
          <p:cNvPicPr preferRelativeResize="0"/>
          <p:nvPr/>
        </p:nvPicPr>
        <p:blipFill>
          <a:blip r:embed="rId4">
            <a:alphaModFix/>
          </a:blip>
          <a:stretch>
            <a:fillRect/>
          </a:stretch>
        </p:blipFill>
        <p:spPr>
          <a:xfrm>
            <a:off x="5990818" y="3194075"/>
            <a:ext cx="1210357" cy="607800"/>
          </a:xfrm>
          <a:prstGeom prst="rect">
            <a:avLst/>
          </a:prstGeom>
          <a:noFill/>
          <a:ln>
            <a:noFill/>
          </a:ln>
        </p:spPr>
      </p:pic>
      <p:pic>
        <p:nvPicPr>
          <p:cNvPr id="223" name="Google Shape;223;p24"/>
          <p:cNvPicPr preferRelativeResize="0"/>
          <p:nvPr/>
        </p:nvPicPr>
        <p:blipFill>
          <a:blip r:embed="rId4">
            <a:alphaModFix/>
          </a:blip>
          <a:stretch>
            <a:fillRect/>
          </a:stretch>
        </p:blipFill>
        <p:spPr>
          <a:xfrm>
            <a:off x="2832193" y="3857675"/>
            <a:ext cx="1210357" cy="607800"/>
          </a:xfrm>
          <a:prstGeom prst="rect">
            <a:avLst/>
          </a:prstGeom>
          <a:noFill/>
          <a:ln>
            <a:noFill/>
          </a:ln>
        </p:spPr>
      </p:pic>
      <p:sp>
        <p:nvSpPr>
          <p:cNvPr id="224" name="Google Shape;224;p24"/>
          <p:cNvSpPr txBox="1"/>
          <p:nvPr/>
        </p:nvSpPr>
        <p:spPr>
          <a:xfrm>
            <a:off x="1667300" y="1753800"/>
            <a:ext cx="404100" cy="16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100">
                <a:solidFill>
                  <a:schemeClr val="dk2"/>
                </a:solidFill>
                <a:latin typeface="Roboto"/>
                <a:ea typeface="Roboto"/>
                <a:cs typeface="Roboto"/>
                <a:sym typeface="Roboto"/>
              </a:rPr>
              <a:t>1</a:t>
            </a:r>
            <a:endParaRPr sz="1100">
              <a:solidFill>
                <a:schemeClr val="dk2"/>
              </a:solidFill>
              <a:latin typeface="Roboto"/>
              <a:ea typeface="Roboto"/>
              <a:cs typeface="Roboto"/>
              <a:sym typeface="Roboto"/>
            </a:endParaRPr>
          </a:p>
        </p:txBody>
      </p:sp>
      <p:sp>
        <p:nvSpPr>
          <p:cNvPr id="225" name="Google Shape;225;p24"/>
          <p:cNvSpPr txBox="1"/>
          <p:nvPr/>
        </p:nvSpPr>
        <p:spPr>
          <a:xfrm>
            <a:off x="2352500" y="1753800"/>
            <a:ext cx="404100" cy="16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100">
                <a:solidFill>
                  <a:schemeClr val="dk2"/>
                </a:solidFill>
                <a:latin typeface="Roboto"/>
                <a:ea typeface="Roboto"/>
                <a:cs typeface="Roboto"/>
                <a:sym typeface="Roboto"/>
              </a:rPr>
              <a:t>0</a:t>
            </a:r>
            <a:endParaRPr sz="1100">
              <a:solidFill>
                <a:schemeClr val="dk2"/>
              </a:solidFill>
              <a:latin typeface="Roboto"/>
              <a:ea typeface="Roboto"/>
              <a:cs typeface="Roboto"/>
              <a:sym typeface="Roboto"/>
            </a:endParaRPr>
          </a:p>
        </p:txBody>
      </p:sp>
      <p:sp>
        <p:nvSpPr>
          <p:cNvPr id="226" name="Google Shape;226;p24"/>
          <p:cNvSpPr txBox="1"/>
          <p:nvPr/>
        </p:nvSpPr>
        <p:spPr>
          <a:xfrm>
            <a:off x="1667300" y="2032050"/>
            <a:ext cx="404100" cy="16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100">
                <a:solidFill>
                  <a:schemeClr val="dk2"/>
                </a:solidFill>
                <a:latin typeface="Roboto"/>
                <a:ea typeface="Roboto"/>
                <a:cs typeface="Roboto"/>
                <a:sym typeface="Roboto"/>
              </a:rPr>
              <a:t>0</a:t>
            </a:r>
            <a:endParaRPr sz="1100">
              <a:solidFill>
                <a:schemeClr val="dk2"/>
              </a:solidFill>
              <a:latin typeface="Roboto"/>
              <a:ea typeface="Roboto"/>
              <a:cs typeface="Roboto"/>
              <a:sym typeface="Roboto"/>
            </a:endParaRPr>
          </a:p>
        </p:txBody>
      </p:sp>
      <p:sp>
        <p:nvSpPr>
          <p:cNvPr id="227" name="Google Shape;227;p24"/>
          <p:cNvSpPr txBox="1"/>
          <p:nvPr/>
        </p:nvSpPr>
        <p:spPr>
          <a:xfrm>
            <a:off x="3638450" y="1168275"/>
            <a:ext cx="404100" cy="16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100">
                <a:solidFill>
                  <a:schemeClr val="dk2"/>
                </a:solidFill>
                <a:latin typeface="Roboto"/>
                <a:ea typeface="Roboto"/>
                <a:cs typeface="Roboto"/>
                <a:sym typeface="Roboto"/>
              </a:rPr>
              <a:t>7/</a:t>
            </a:r>
            <a:r>
              <a:rPr b="1" lang="en-GB" sz="1100">
                <a:solidFill>
                  <a:schemeClr val="dk2"/>
                </a:solidFill>
                <a:latin typeface="Roboto"/>
                <a:ea typeface="Roboto"/>
                <a:cs typeface="Roboto"/>
                <a:sym typeface="Roboto"/>
              </a:rPr>
              <a:t>6</a:t>
            </a:r>
            <a:endParaRPr b="1" sz="1100">
              <a:solidFill>
                <a:schemeClr val="dk2"/>
              </a:solidFill>
              <a:latin typeface="Roboto"/>
              <a:ea typeface="Roboto"/>
              <a:cs typeface="Roboto"/>
              <a:sym typeface="Roboto"/>
            </a:endParaRPr>
          </a:p>
        </p:txBody>
      </p:sp>
      <p:sp>
        <p:nvSpPr>
          <p:cNvPr id="228" name="Google Shape;228;p24"/>
          <p:cNvSpPr txBox="1"/>
          <p:nvPr/>
        </p:nvSpPr>
        <p:spPr>
          <a:xfrm>
            <a:off x="2914375" y="4134875"/>
            <a:ext cx="404100" cy="33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100">
                <a:solidFill>
                  <a:schemeClr val="dk2"/>
                </a:solidFill>
                <a:latin typeface="Roboto"/>
                <a:ea typeface="Roboto"/>
                <a:cs typeface="Roboto"/>
                <a:sym typeface="Roboto"/>
              </a:rPr>
              <a:t>1</a:t>
            </a:r>
            <a:endParaRPr sz="1100">
              <a:solidFill>
                <a:schemeClr val="dk2"/>
              </a:solidFill>
              <a:latin typeface="Roboto"/>
              <a:ea typeface="Roboto"/>
              <a:cs typeface="Roboto"/>
              <a:sym typeface="Roboto"/>
            </a:endParaRPr>
          </a:p>
        </p:txBody>
      </p:sp>
      <p:sp>
        <p:nvSpPr>
          <p:cNvPr id="229" name="Google Shape;229;p24"/>
          <p:cNvSpPr txBox="1"/>
          <p:nvPr/>
        </p:nvSpPr>
        <p:spPr>
          <a:xfrm>
            <a:off x="2914375" y="3857675"/>
            <a:ext cx="456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solidFill>
                  <a:schemeClr val="dk2"/>
                </a:solidFill>
                <a:latin typeface="Roboto"/>
                <a:ea typeface="Roboto"/>
                <a:cs typeface="Roboto"/>
                <a:sym typeface="Roboto"/>
              </a:rPr>
              <a:t>2</a:t>
            </a:r>
            <a:endParaRPr/>
          </a:p>
        </p:txBody>
      </p:sp>
      <p:sp>
        <p:nvSpPr>
          <p:cNvPr id="230" name="Google Shape;230;p24"/>
          <p:cNvSpPr txBox="1"/>
          <p:nvPr/>
        </p:nvSpPr>
        <p:spPr>
          <a:xfrm>
            <a:off x="3586550" y="3857675"/>
            <a:ext cx="456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solidFill>
                  <a:schemeClr val="dk2"/>
                </a:solidFill>
                <a:latin typeface="Roboto"/>
                <a:ea typeface="Roboto"/>
                <a:cs typeface="Roboto"/>
                <a:sym typeface="Roboto"/>
              </a:rPr>
              <a:t>1</a:t>
            </a:r>
            <a:endParaRPr/>
          </a:p>
        </p:txBody>
      </p:sp>
      <p:sp>
        <p:nvSpPr>
          <p:cNvPr id="231" name="Google Shape;231;p24"/>
          <p:cNvSpPr txBox="1"/>
          <p:nvPr/>
        </p:nvSpPr>
        <p:spPr>
          <a:xfrm>
            <a:off x="5930125" y="1242700"/>
            <a:ext cx="456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solidFill>
                  <a:schemeClr val="dk2"/>
                </a:solidFill>
                <a:latin typeface="Roboto"/>
                <a:ea typeface="Roboto"/>
                <a:cs typeface="Roboto"/>
                <a:sym typeface="Roboto"/>
              </a:rPr>
              <a:t>3</a:t>
            </a:r>
            <a:endParaRPr/>
          </a:p>
        </p:txBody>
      </p:sp>
      <p:sp>
        <p:nvSpPr>
          <p:cNvPr id="232" name="Google Shape;232;p24"/>
          <p:cNvSpPr txBox="1"/>
          <p:nvPr/>
        </p:nvSpPr>
        <p:spPr>
          <a:xfrm>
            <a:off x="5990825" y="3503675"/>
            <a:ext cx="456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solidFill>
                  <a:schemeClr val="dk2"/>
                </a:solidFill>
                <a:latin typeface="Roboto"/>
                <a:ea typeface="Roboto"/>
                <a:cs typeface="Roboto"/>
                <a:sym typeface="Roboto"/>
              </a:rPr>
              <a:t>8</a:t>
            </a:r>
            <a:endParaRPr/>
          </a:p>
        </p:txBody>
      </p:sp>
      <p:sp>
        <p:nvSpPr>
          <p:cNvPr id="233" name="Google Shape;233;p24"/>
          <p:cNvSpPr txBox="1"/>
          <p:nvPr/>
        </p:nvSpPr>
        <p:spPr>
          <a:xfrm>
            <a:off x="5930125" y="947025"/>
            <a:ext cx="456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solidFill>
                  <a:schemeClr val="dk2"/>
                </a:solidFill>
                <a:latin typeface="Roboto"/>
                <a:ea typeface="Roboto"/>
                <a:cs typeface="Roboto"/>
                <a:sym typeface="Roboto"/>
              </a:rPr>
              <a:t>3</a:t>
            </a:r>
            <a:endParaRPr/>
          </a:p>
        </p:txBody>
      </p:sp>
      <p:sp>
        <p:nvSpPr>
          <p:cNvPr id="234" name="Google Shape;234;p24"/>
          <p:cNvSpPr txBox="1"/>
          <p:nvPr/>
        </p:nvSpPr>
        <p:spPr>
          <a:xfrm>
            <a:off x="6580350" y="947025"/>
            <a:ext cx="456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solidFill>
                  <a:schemeClr val="dk2"/>
                </a:solidFill>
                <a:latin typeface="Roboto"/>
                <a:ea typeface="Roboto"/>
                <a:cs typeface="Roboto"/>
                <a:sym typeface="Roboto"/>
              </a:rPr>
              <a:t>3</a:t>
            </a:r>
            <a:endParaRPr/>
          </a:p>
        </p:txBody>
      </p:sp>
      <p:sp>
        <p:nvSpPr>
          <p:cNvPr id="235" name="Google Shape;235;p24"/>
          <p:cNvSpPr txBox="1"/>
          <p:nvPr/>
        </p:nvSpPr>
        <p:spPr>
          <a:xfrm>
            <a:off x="3638450" y="899525"/>
            <a:ext cx="456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solidFill>
                  <a:schemeClr val="dk2"/>
                </a:solidFill>
                <a:latin typeface="Roboto"/>
                <a:ea typeface="Roboto"/>
                <a:cs typeface="Roboto"/>
                <a:sym typeface="Roboto"/>
              </a:rPr>
              <a:t>4</a:t>
            </a:r>
            <a:endParaRPr/>
          </a:p>
        </p:txBody>
      </p:sp>
      <p:sp>
        <p:nvSpPr>
          <p:cNvPr id="236" name="Google Shape;236;p24"/>
          <p:cNvSpPr txBox="1"/>
          <p:nvPr/>
        </p:nvSpPr>
        <p:spPr>
          <a:xfrm>
            <a:off x="4298500" y="899525"/>
            <a:ext cx="456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solidFill>
                  <a:schemeClr val="dk2"/>
                </a:solidFill>
                <a:latin typeface="Roboto"/>
                <a:ea typeface="Roboto"/>
                <a:cs typeface="Roboto"/>
                <a:sym typeface="Roboto"/>
              </a:rPr>
              <a:t>6</a:t>
            </a:r>
            <a:endParaRPr/>
          </a:p>
        </p:txBody>
      </p:sp>
      <p:sp>
        <p:nvSpPr>
          <p:cNvPr id="237" name="Google Shape;237;p24"/>
          <p:cNvSpPr txBox="1"/>
          <p:nvPr/>
        </p:nvSpPr>
        <p:spPr>
          <a:xfrm>
            <a:off x="6074525" y="3194075"/>
            <a:ext cx="456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solidFill>
                  <a:schemeClr val="dk2"/>
                </a:solidFill>
                <a:latin typeface="Roboto"/>
                <a:ea typeface="Roboto"/>
                <a:cs typeface="Roboto"/>
                <a:sym typeface="Roboto"/>
              </a:rPr>
              <a:t>5</a:t>
            </a:r>
            <a:endParaRPr/>
          </a:p>
        </p:txBody>
      </p:sp>
      <p:sp>
        <p:nvSpPr>
          <p:cNvPr id="238" name="Google Shape;238;p24"/>
          <p:cNvSpPr txBox="1"/>
          <p:nvPr/>
        </p:nvSpPr>
        <p:spPr>
          <a:xfrm>
            <a:off x="6687500" y="3194075"/>
            <a:ext cx="456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solidFill>
                  <a:schemeClr val="dk2"/>
                </a:solidFill>
                <a:latin typeface="Roboto"/>
                <a:ea typeface="Roboto"/>
                <a:cs typeface="Roboto"/>
                <a:sym typeface="Roboto"/>
              </a:rPr>
              <a:t>8</a:t>
            </a:r>
            <a:endParaRPr/>
          </a:p>
        </p:txBody>
      </p:sp>
      <p:sp>
        <p:nvSpPr>
          <p:cNvPr id="239" name="Google Shape;239;p24"/>
          <p:cNvSpPr txBox="1"/>
          <p:nvPr/>
        </p:nvSpPr>
        <p:spPr>
          <a:xfrm>
            <a:off x="355875" y="2826100"/>
            <a:ext cx="2114400" cy="184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latin typeface="Roboto"/>
                <a:ea typeface="Roboto"/>
                <a:cs typeface="Roboto"/>
                <a:sym typeface="Roboto"/>
              </a:rPr>
              <a:t>From working through the algorithm we can see the shortest path is AED with a length of 8.</a:t>
            </a:r>
            <a:endParaRPr sz="1800">
              <a:solidFill>
                <a:schemeClr val="dk2"/>
              </a:solidFill>
              <a:latin typeface="Roboto"/>
              <a:ea typeface="Roboto"/>
              <a:cs typeface="Roboto"/>
              <a:sym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25"/>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AI Reinforcement learning</a:t>
            </a:r>
            <a:endParaRPr/>
          </a:p>
        </p:txBody>
      </p:sp>
      <p:sp>
        <p:nvSpPr>
          <p:cNvPr id="245" name="Google Shape;245;p25"/>
          <p:cNvSpPr txBox="1"/>
          <p:nvPr>
            <p:ph idx="1" type="body"/>
          </p:nvPr>
        </p:nvSpPr>
        <p:spPr>
          <a:xfrm>
            <a:off x="311713" y="1017800"/>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sz="1700"/>
              <a:t>Before actually discussing the AI aspect of this, it is nice to visualise what is actually happening. Effectively what I am doing in this </a:t>
            </a:r>
            <a:r>
              <a:rPr lang="en-GB" sz="1700"/>
              <a:t>program</a:t>
            </a:r>
            <a:r>
              <a:rPr lang="en-GB" sz="1700"/>
              <a:t> is I am sending out a ‘maze runner’ to travel through one maze thousand of times. On their first run through their maze, they know nothing about the structure of the maze and will be running around randomly until they eventually find the exit. However, after each run in the maze the ‘maze runner’ will begin to remember certain parts of the maze and which routes are better and which are worse.</a:t>
            </a:r>
            <a:endParaRPr sz="1700"/>
          </a:p>
        </p:txBody>
      </p:sp>
      <p:pic>
        <p:nvPicPr>
          <p:cNvPr id="246" name="Google Shape;246;p25"/>
          <p:cNvPicPr preferRelativeResize="0"/>
          <p:nvPr/>
        </p:nvPicPr>
        <p:blipFill>
          <a:blip r:embed="rId3">
            <a:alphaModFix/>
          </a:blip>
          <a:stretch>
            <a:fillRect/>
          </a:stretch>
        </p:blipFill>
        <p:spPr>
          <a:xfrm>
            <a:off x="3296739" y="3116275"/>
            <a:ext cx="2550524" cy="169812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26"/>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AI Reinforcement learning</a:t>
            </a:r>
            <a:endParaRPr/>
          </a:p>
          <a:p>
            <a:pPr indent="0" lvl="0" marL="0" rtl="0" algn="l">
              <a:spcBef>
                <a:spcPts val="0"/>
              </a:spcBef>
              <a:spcAft>
                <a:spcPts val="0"/>
              </a:spcAft>
              <a:buNone/>
            </a:pPr>
            <a:r>
              <a:t/>
            </a:r>
            <a:endParaRPr/>
          </a:p>
        </p:txBody>
      </p:sp>
      <p:sp>
        <p:nvSpPr>
          <p:cNvPr id="252" name="Google Shape;252;p26"/>
          <p:cNvSpPr txBox="1"/>
          <p:nvPr/>
        </p:nvSpPr>
        <p:spPr>
          <a:xfrm>
            <a:off x="311700" y="954975"/>
            <a:ext cx="6929100" cy="37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latin typeface="Roboto"/>
                <a:ea typeface="Roboto"/>
                <a:cs typeface="Roboto"/>
                <a:sym typeface="Roboto"/>
              </a:rPr>
              <a:t>The general cycle of reinforcement learning is:</a:t>
            </a:r>
            <a:endParaRPr sz="1800">
              <a:solidFill>
                <a:schemeClr val="dk2"/>
              </a:solidFill>
              <a:latin typeface="Roboto"/>
              <a:ea typeface="Roboto"/>
              <a:cs typeface="Roboto"/>
              <a:sym typeface="Roboto"/>
            </a:endParaRPr>
          </a:p>
        </p:txBody>
      </p:sp>
      <p:pic>
        <p:nvPicPr>
          <p:cNvPr id="253" name="Google Shape;253;p26"/>
          <p:cNvPicPr preferRelativeResize="0"/>
          <p:nvPr/>
        </p:nvPicPr>
        <p:blipFill>
          <a:blip r:embed="rId3">
            <a:alphaModFix/>
          </a:blip>
          <a:stretch>
            <a:fillRect/>
          </a:stretch>
        </p:blipFill>
        <p:spPr>
          <a:xfrm>
            <a:off x="2966025" y="1331775"/>
            <a:ext cx="3211950" cy="2855050"/>
          </a:xfrm>
          <a:prstGeom prst="rect">
            <a:avLst/>
          </a:prstGeom>
          <a:noFill/>
          <a:ln>
            <a:noFill/>
          </a:ln>
        </p:spPr>
      </p:pic>
      <p:sp>
        <p:nvSpPr>
          <p:cNvPr id="254" name="Google Shape;254;p26"/>
          <p:cNvSpPr txBox="1"/>
          <p:nvPr/>
        </p:nvSpPr>
        <p:spPr>
          <a:xfrm>
            <a:off x="311700" y="4186825"/>
            <a:ext cx="5866200" cy="37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latin typeface="Roboto"/>
                <a:ea typeface="Roboto"/>
                <a:cs typeface="Roboto"/>
                <a:sym typeface="Roboto"/>
              </a:rPr>
              <a:t>In our case the Agent is the ‘Maze Runner’ and the Environment is the maze.</a:t>
            </a:r>
            <a:endParaRPr sz="1800">
              <a:solidFill>
                <a:schemeClr val="dk2"/>
              </a:solidFill>
              <a:latin typeface="Roboto"/>
              <a:ea typeface="Roboto"/>
              <a:cs typeface="Roboto"/>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27"/>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AI Reinforcement learning</a:t>
            </a:r>
            <a:endParaRPr/>
          </a:p>
          <a:p>
            <a:pPr indent="0" lvl="0" marL="0" rtl="0" algn="l">
              <a:spcBef>
                <a:spcPts val="0"/>
              </a:spcBef>
              <a:spcAft>
                <a:spcPts val="0"/>
              </a:spcAft>
              <a:buNone/>
            </a:pPr>
            <a:r>
              <a:t/>
            </a:r>
            <a:endParaRPr/>
          </a:p>
        </p:txBody>
      </p:sp>
      <p:sp>
        <p:nvSpPr>
          <p:cNvPr id="260" name="Google Shape;260;p27"/>
          <p:cNvSpPr txBox="1"/>
          <p:nvPr>
            <p:ph idx="1" type="body"/>
          </p:nvPr>
        </p:nvSpPr>
        <p:spPr>
          <a:xfrm>
            <a:off x="311700" y="1017800"/>
            <a:ext cx="8520600" cy="3339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The AI makes its decision on what action to choose using a Q-Function. The function takes 2 parameters, the current state and a proposed action, and outputs a number. This number represents the maximum future reward the AI can achieve until the end state. The AI chooses the action with the highest Q-Function value. The syntax for this would be Q(s,a) = 10.</a:t>
            </a:r>
            <a:endParaRPr/>
          </a:p>
          <a:p>
            <a:pPr indent="-342900" lvl="0" marL="457200" rtl="0" algn="l">
              <a:spcBef>
                <a:spcPts val="0"/>
              </a:spcBef>
              <a:spcAft>
                <a:spcPts val="0"/>
              </a:spcAft>
              <a:buSzPts val="1800"/>
              <a:buChar char="-"/>
            </a:pPr>
            <a:r>
              <a:rPr lang="en-GB"/>
              <a:t>This number is returned from a table of state,action,q-value columns. </a:t>
            </a:r>
            <a:endParaRPr/>
          </a:p>
        </p:txBody>
      </p:sp>
      <p:pic>
        <p:nvPicPr>
          <p:cNvPr id="261" name="Google Shape;261;p27"/>
          <p:cNvPicPr preferRelativeResize="0"/>
          <p:nvPr/>
        </p:nvPicPr>
        <p:blipFill>
          <a:blip r:embed="rId3">
            <a:alphaModFix/>
          </a:blip>
          <a:stretch>
            <a:fillRect/>
          </a:stretch>
        </p:blipFill>
        <p:spPr>
          <a:xfrm>
            <a:off x="3484813" y="3098250"/>
            <a:ext cx="2174375" cy="16179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28"/>
          <p:cNvSpPr txBox="1"/>
          <p:nvPr>
            <p:ph type="title"/>
          </p:nvPr>
        </p:nvSpPr>
        <p:spPr>
          <a:xfrm>
            <a:off x="311700" y="242525"/>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AI Reinforcement learning</a:t>
            </a:r>
            <a:endParaRPr/>
          </a:p>
          <a:p>
            <a:pPr indent="0" lvl="0" marL="0" rtl="0" algn="l">
              <a:spcBef>
                <a:spcPts val="0"/>
              </a:spcBef>
              <a:spcAft>
                <a:spcPts val="0"/>
              </a:spcAft>
              <a:buNone/>
            </a:pPr>
            <a:r>
              <a:t/>
            </a:r>
            <a:endParaRPr/>
          </a:p>
        </p:txBody>
      </p:sp>
      <p:sp>
        <p:nvSpPr>
          <p:cNvPr id="267" name="Google Shape;267;p28"/>
          <p:cNvSpPr txBox="1"/>
          <p:nvPr>
            <p:ph idx="1" type="body"/>
          </p:nvPr>
        </p:nvSpPr>
        <p:spPr>
          <a:xfrm>
            <a:off x="311700" y="85032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So we now have some magical table with appropriate Q-Values that would represent better or worse actions but how does this table actually gain this information? We use the Bellman equation during the training process.</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GB"/>
              <a:t>The equation shown above is the true Bellman equation but for ease of simplification, the equation can largely be reduced down to:</a:t>
            </a:r>
            <a:endParaRPr/>
          </a:p>
        </p:txBody>
      </p:sp>
      <p:pic>
        <p:nvPicPr>
          <p:cNvPr id="268" name="Google Shape;268;p28"/>
          <p:cNvPicPr preferRelativeResize="0"/>
          <p:nvPr/>
        </p:nvPicPr>
        <p:blipFill>
          <a:blip r:embed="rId3">
            <a:alphaModFix/>
          </a:blip>
          <a:stretch>
            <a:fillRect/>
          </a:stretch>
        </p:blipFill>
        <p:spPr>
          <a:xfrm>
            <a:off x="378025" y="1958600"/>
            <a:ext cx="8640575" cy="459300"/>
          </a:xfrm>
          <a:prstGeom prst="rect">
            <a:avLst/>
          </a:prstGeom>
          <a:noFill/>
          <a:ln>
            <a:noFill/>
          </a:ln>
        </p:spPr>
      </p:pic>
      <p:pic>
        <p:nvPicPr>
          <p:cNvPr id="269" name="Google Shape;269;p28"/>
          <p:cNvPicPr preferRelativeResize="0"/>
          <p:nvPr/>
        </p:nvPicPr>
        <p:blipFill>
          <a:blip r:embed="rId4">
            <a:alphaModFix/>
          </a:blip>
          <a:stretch>
            <a:fillRect/>
          </a:stretch>
        </p:blipFill>
        <p:spPr>
          <a:xfrm>
            <a:off x="378025" y="3126300"/>
            <a:ext cx="5682375" cy="7709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29"/>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AI Reinforcement learning</a:t>
            </a:r>
            <a:endParaRPr/>
          </a:p>
          <a:p>
            <a:pPr indent="0" lvl="0" marL="0" rtl="0" algn="l">
              <a:spcBef>
                <a:spcPts val="0"/>
              </a:spcBef>
              <a:spcAft>
                <a:spcPts val="0"/>
              </a:spcAft>
              <a:buNone/>
            </a:pPr>
            <a:r>
              <a:t/>
            </a:r>
            <a:endParaRPr/>
          </a:p>
        </p:txBody>
      </p:sp>
      <p:pic>
        <p:nvPicPr>
          <p:cNvPr id="275" name="Google Shape;275;p29"/>
          <p:cNvPicPr preferRelativeResize="0"/>
          <p:nvPr/>
        </p:nvPicPr>
        <p:blipFill>
          <a:blip r:embed="rId3">
            <a:alphaModFix/>
          </a:blip>
          <a:stretch>
            <a:fillRect/>
          </a:stretch>
        </p:blipFill>
        <p:spPr>
          <a:xfrm>
            <a:off x="311700" y="1192100"/>
            <a:ext cx="5682375" cy="770975"/>
          </a:xfrm>
          <a:prstGeom prst="rect">
            <a:avLst/>
          </a:prstGeom>
          <a:noFill/>
          <a:ln>
            <a:noFill/>
          </a:ln>
        </p:spPr>
      </p:pic>
      <p:sp>
        <p:nvSpPr>
          <p:cNvPr id="276" name="Google Shape;276;p29"/>
          <p:cNvSpPr txBox="1"/>
          <p:nvPr>
            <p:ph idx="1" type="body"/>
          </p:nvPr>
        </p:nvSpPr>
        <p:spPr>
          <a:xfrm>
            <a:off x="311700" y="902250"/>
            <a:ext cx="8520600" cy="4479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1200"/>
              </a:spcAft>
              <a:buNone/>
            </a:pPr>
            <a:r>
              <a:rPr lang="en-GB"/>
              <a:t>I have copied the simplified Bellman Equation from the previous slide.</a:t>
            </a:r>
            <a:endParaRPr/>
          </a:p>
        </p:txBody>
      </p:sp>
      <p:sp>
        <p:nvSpPr>
          <p:cNvPr id="277" name="Google Shape;277;p29"/>
          <p:cNvSpPr txBox="1"/>
          <p:nvPr/>
        </p:nvSpPr>
        <p:spPr>
          <a:xfrm>
            <a:off x="311700" y="1963075"/>
            <a:ext cx="8258400" cy="6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latin typeface="Roboto"/>
                <a:ea typeface="Roboto"/>
                <a:cs typeface="Roboto"/>
                <a:sym typeface="Roboto"/>
              </a:rPr>
              <a:t>When an AI performs a singular step in one run of the maze, the table is updated using the equation. The Q-Value of the action chosen is set to the immediate reward (or punishment) of taking that action plus the discounted maximum possible Q-Value of the next state. The reason why there is a discount is because future rewards are generally considered less important. Also without the discount factor this would cause all the Q-Values to tend to infinity.</a:t>
            </a:r>
            <a:endParaRPr sz="1800">
              <a:solidFill>
                <a:schemeClr val="dk2"/>
              </a:solidFill>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30"/>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AI Reinforcement learning</a:t>
            </a:r>
            <a:endParaRPr/>
          </a:p>
          <a:p>
            <a:pPr indent="0" lvl="0" marL="0" rtl="0" algn="l">
              <a:spcBef>
                <a:spcPts val="0"/>
              </a:spcBef>
              <a:spcAft>
                <a:spcPts val="0"/>
              </a:spcAft>
              <a:buNone/>
            </a:pPr>
            <a:r>
              <a:t/>
            </a:r>
            <a:endParaRPr/>
          </a:p>
        </p:txBody>
      </p:sp>
      <p:sp>
        <p:nvSpPr>
          <p:cNvPr id="283" name="Google Shape;283;p30"/>
          <p:cNvSpPr txBox="1"/>
          <p:nvPr>
            <p:ph idx="1" type="body"/>
          </p:nvPr>
        </p:nvSpPr>
        <p:spPr>
          <a:xfrm>
            <a:off x="311700" y="902250"/>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The AI explanation provided in the previous slides is a large oversimplification of the process my AI goes through in order to learn how to solve the maze however, hopefully it gives you a rough understanding of how it works. Additional concepts such as:</a:t>
            </a:r>
            <a:endParaRPr/>
          </a:p>
          <a:p>
            <a:pPr indent="-342900" lvl="0" marL="457200" rtl="0" algn="l">
              <a:spcBef>
                <a:spcPts val="1200"/>
              </a:spcBef>
              <a:spcAft>
                <a:spcPts val="0"/>
              </a:spcAft>
              <a:buSzPts val="1800"/>
              <a:buChar char="-"/>
            </a:pPr>
            <a:r>
              <a:rPr lang="en-GB"/>
              <a:t>Epsilon Greedy Policy</a:t>
            </a:r>
            <a:endParaRPr/>
          </a:p>
          <a:p>
            <a:pPr indent="-342900" lvl="0" marL="457200" rtl="0" algn="l">
              <a:spcBef>
                <a:spcPts val="0"/>
              </a:spcBef>
              <a:spcAft>
                <a:spcPts val="0"/>
              </a:spcAft>
              <a:buSzPts val="1800"/>
              <a:buChar char="-"/>
            </a:pPr>
            <a:r>
              <a:rPr lang="en-GB"/>
              <a:t>Hyperparameters (learning rate/epsilon decay rate)</a:t>
            </a:r>
            <a:endParaRPr/>
          </a:p>
          <a:p>
            <a:pPr indent="-342900" lvl="0" marL="457200" rtl="0" algn="l">
              <a:spcBef>
                <a:spcPts val="0"/>
              </a:spcBef>
              <a:spcAft>
                <a:spcPts val="0"/>
              </a:spcAft>
              <a:buSzPts val="1800"/>
              <a:buChar char="-"/>
            </a:pPr>
            <a:r>
              <a:rPr lang="en-GB"/>
              <a:t>π(s) policie</a:t>
            </a:r>
            <a:r>
              <a:rPr lang="en-GB"/>
              <a:t>s (fixed/state-dependent)</a:t>
            </a:r>
            <a:endParaRPr/>
          </a:p>
        </p:txBody>
      </p:sp>
      <p:sp>
        <p:nvSpPr>
          <p:cNvPr id="284" name="Google Shape;284;p30"/>
          <p:cNvSpPr txBox="1"/>
          <p:nvPr/>
        </p:nvSpPr>
        <p:spPr>
          <a:xfrm>
            <a:off x="311700" y="3380850"/>
            <a:ext cx="5620800" cy="45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en-GB" sz="1800">
                <a:solidFill>
                  <a:schemeClr val="dk2"/>
                </a:solidFill>
                <a:latin typeface="Roboto"/>
                <a:ea typeface="Roboto"/>
                <a:cs typeface="Roboto"/>
                <a:sym typeface="Roboto"/>
              </a:rPr>
              <a:t>I have intentionally left out as they are technicalities that would cause confusion and don’t add to the big picture.</a:t>
            </a:r>
            <a:endParaRPr sz="1800">
              <a:solidFill>
                <a:schemeClr val="dk2"/>
              </a:solidFill>
              <a:latin typeface="Roboto"/>
              <a:ea typeface="Roboto"/>
              <a:cs typeface="Roboto"/>
              <a:sym typeface="Roboto"/>
            </a:endParaRPr>
          </a:p>
        </p:txBody>
      </p:sp>
      <p:sp>
        <p:nvSpPr>
          <p:cNvPr id="285" name="Google Shape;285;p30"/>
          <p:cNvSpPr txBox="1"/>
          <p:nvPr/>
        </p:nvSpPr>
        <p:spPr>
          <a:xfrm>
            <a:off x="311700" y="4448500"/>
            <a:ext cx="5545200" cy="38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latin typeface="Roboto"/>
                <a:ea typeface="Roboto"/>
                <a:cs typeface="Roboto"/>
                <a:sym typeface="Roboto"/>
              </a:rPr>
              <a:t>I can now demonstrate my program working!</a:t>
            </a:r>
            <a:endParaRPr sz="1800">
              <a:solidFill>
                <a:schemeClr val="dk2"/>
              </a:solidFill>
              <a:latin typeface="Roboto"/>
              <a:ea typeface="Roboto"/>
              <a:cs typeface="Roboto"/>
              <a:sym typeface="Robo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31"/>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Conclusion</a:t>
            </a:r>
            <a:endParaRPr/>
          </a:p>
        </p:txBody>
      </p:sp>
      <p:sp>
        <p:nvSpPr>
          <p:cNvPr id="291" name="Google Shape;291;p31"/>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I believe I have achieved the aims that I initially set out to achieve when beginning this project. I now have an AI that can solve a randomly generated maze.</a:t>
            </a:r>
            <a:endParaRPr/>
          </a:p>
          <a:p>
            <a:pPr indent="-342900" lvl="0" marL="457200" rtl="0" algn="l">
              <a:spcBef>
                <a:spcPts val="0"/>
              </a:spcBef>
              <a:spcAft>
                <a:spcPts val="0"/>
              </a:spcAft>
              <a:buSzPts val="1800"/>
              <a:buChar char="-"/>
            </a:pPr>
            <a:r>
              <a:rPr lang="en-GB"/>
              <a:t>Alongside this I have largely improved my skills in algorithmic design and implementation of external libraries.</a:t>
            </a:r>
            <a:endParaRPr/>
          </a:p>
        </p:txBody>
      </p:sp>
      <p:pic>
        <p:nvPicPr>
          <p:cNvPr id="292" name="Google Shape;292;p31"/>
          <p:cNvPicPr preferRelativeResize="0"/>
          <p:nvPr/>
        </p:nvPicPr>
        <p:blipFill>
          <a:blip r:embed="rId3">
            <a:alphaModFix/>
          </a:blip>
          <a:stretch>
            <a:fillRect/>
          </a:stretch>
        </p:blipFill>
        <p:spPr>
          <a:xfrm>
            <a:off x="3091350" y="3094625"/>
            <a:ext cx="2961300" cy="16731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32"/>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Self Reflection</a:t>
            </a:r>
            <a:endParaRPr/>
          </a:p>
        </p:txBody>
      </p:sp>
      <p:sp>
        <p:nvSpPr>
          <p:cNvPr id="298" name="Google Shape;298;p32"/>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Overall, I enjoyed creating this project, however I did have some difficulties:</a:t>
            </a:r>
            <a:endParaRPr/>
          </a:p>
          <a:p>
            <a:pPr indent="-342900" lvl="0" marL="457200" rtl="0" algn="l">
              <a:spcBef>
                <a:spcPts val="1200"/>
              </a:spcBef>
              <a:spcAft>
                <a:spcPts val="0"/>
              </a:spcAft>
              <a:buSzPts val="1800"/>
              <a:buChar char="-"/>
            </a:pPr>
            <a:r>
              <a:rPr lang="en-GB"/>
              <a:t>Balancing other academics (university applications - TMUA/interview)</a:t>
            </a:r>
            <a:endParaRPr/>
          </a:p>
          <a:p>
            <a:pPr indent="-342900" lvl="0" marL="457200" rtl="0" algn="l">
              <a:spcBef>
                <a:spcPts val="0"/>
              </a:spcBef>
              <a:spcAft>
                <a:spcPts val="0"/>
              </a:spcAft>
              <a:buSzPts val="1800"/>
              <a:buChar char="-"/>
            </a:pPr>
            <a:r>
              <a:rPr lang="en-GB"/>
              <a:t>Procrastination</a:t>
            </a:r>
            <a:endParaRPr/>
          </a:p>
          <a:p>
            <a:pPr indent="-342900" lvl="0" marL="457200" rtl="0" algn="l">
              <a:spcBef>
                <a:spcPts val="0"/>
              </a:spcBef>
              <a:spcAft>
                <a:spcPts val="0"/>
              </a:spcAft>
              <a:buSzPts val="1800"/>
              <a:buChar char="-"/>
            </a:pPr>
            <a:r>
              <a:rPr lang="en-GB"/>
              <a:t>Scale issue (choice between Deep-Q neural networks vs Tabular Q-Function)/feature creep</a:t>
            </a:r>
            <a:endParaRPr/>
          </a:p>
          <a:p>
            <a:pPr indent="-342900" lvl="0" marL="457200" rtl="0" algn="l">
              <a:spcBef>
                <a:spcPts val="0"/>
              </a:spcBef>
              <a:spcAft>
                <a:spcPts val="0"/>
              </a:spcAft>
              <a:buSzPts val="1800"/>
              <a:buChar char="-"/>
            </a:pPr>
            <a:r>
              <a:rPr lang="en-GB"/>
              <a:t>Getting code to run on school PC’s</a:t>
            </a:r>
            <a:endParaRPr/>
          </a:p>
          <a:p>
            <a:pPr indent="-342900" lvl="0" marL="457200" rtl="0" algn="l">
              <a:spcBef>
                <a:spcPts val="0"/>
              </a:spcBef>
              <a:spcAft>
                <a:spcPts val="0"/>
              </a:spcAft>
              <a:buSzPts val="1800"/>
              <a:buChar char="-"/>
            </a:pPr>
            <a:r>
              <a:rPr lang="en-GB"/>
              <a:t>Actually carrying out the explanation of the code was tedious</a:t>
            </a:r>
            <a:endParaRPr/>
          </a:p>
          <a:p>
            <a:pPr indent="-342900" lvl="0" marL="457200" rtl="0" algn="l">
              <a:spcBef>
                <a:spcPts val="0"/>
              </a:spcBef>
              <a:spcAft>
                <a:spcPts val="0"/>
              </a:spcAft>
              <a:buSzPts val="1800"/>
              <a:buChar char="-"/>
            </a:pPr>
            <a:r>
              <a:rPr lang="en-GB"/>
              <a:t>Some resources were extremely complicated</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33"/>
          <p:cNvSpPr txBox="1"/>
          <p:nvPr>
            <p:ph type="title"/>
          </p:nvPr>
        </p:nvSpPr>
        <p:spPr>
          <a:xfrm>
            <a:off x="311700" y="65075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Sources used</a:t>
            </a:r>
            <a:endParaRPr/>
          </a:p>
        </p:txBody>
      </p:sp>
      <p:sp>
        <p:nvSpPr>
          <p:cNvPr id="304" name="Google Shape;304;p33"/>
          <p:cNvSpPr txBox="1"/>
          <p:nvPr/>
        </p:nvSpPr>
        <p:spPr>
          <a:xfrm>
            <a:off x="275250" y="1580525"/>
            <a:ext cx="8593500" cy="26901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Clr>
                <a:schemeClr val="dk2"/>
              </a:buClr>
              <a:buSzPts val="2000"/>
              <a:buFont typeface="Roboto"/>
              <a:buChar char="-"/>
            </a:pPr>
            <a:r>
              <a:rPr lang="en-GB" sz="2000">
                <a:solidFill>
                  <a:schemeClr val="dk2"/>
                </a:solidFill>
                <a:latin typeface="Roboto"/>
                <a:ea typeface="Roboto"/>
                <a:cs typeface="Roboto"/>
                <a:sym typeface="Roboto"/>
              </a:rPr>
              <a:t>A level resources (provided by PSC)</a:t>
            </a:r>
            <a:endParaRPr sz="2000">
              <a:solidFill>
                <a:schemeClr val="dk2"/>
              </a:solidFill>
              <a:latin typeface="Roboto"/>
              <a:ea typeface="Roboto"/>
              <a:cs typeface="Roboto"/>
              <a:sym typeface="Roboto"/>
            </a:endParaRPr>
          </a:p>
          <a:p>
            <a:pPr indent="-355600" lvl="0" marL="457200" rtl="0" algn="l">
              <a:spcBef>
                <a:spcPts val="0"/>
              </a:spcBef>
              <a:spcAft>
                <a:spcPts val="0"/>
              </a:spcAft>
              <a:buClr>
                <a:schemeClr val="dk2"/>
              </a:buClr>
              <a:buSzPts val="2000"/>
              <a:buFont typeface="Roboto"/>
              <a:buChar char="-"/>
            </a:pPr>
            <a:r>
              <a:rPr lang="en-GB" sz="2000">
                <a:solidFill>
                  <a:schemeClr val="dk2"/>
                </a:solidFill>
                <a:latin typeface="Roboto"/>
                <a:ea typeface="Roboto"/>
                <a:cs typeface="Roboto"/>
                <a:sym typeface="Roboto"/>
              </a:rPr>
              <a:t>Youtube videos</a:t>
            </a:r>
            <a:endParaRPr sz="2000">
              <a:solidFill>
                <a:schemeClr val="dk2"/>
              </a:solidFill>
              <a:latin typeface="Roboto"/>
              <a:ea typeface="Roboto"/>
              <a:cs typeface="Roboto"/>
              <a:sym typeface="Roboto"/>
            </a:endParaRPr>
          </a:p>
          <a:p>
            <a:pPr indent="-355600" lvl="0" marL="457200" rtl="0" algn="l">
              <a:spcBef>
                <a:spcPts val="0"/>
              </a:spcBef>
              <a:spcAft>
                <a:spcPts val="0"/>
              </a:spcAft>
              <a:buClr>
                <a:schemeClr val="dk2"/>
              </a:buClr>
              <a:buSzPts val="2000"/>
              <a:buFont typeface="Roboto"/>
              <a:buChar char="-"/>
            </a:pPr>
            <a:r>
              <a:rPr lang="en-GB" sz="2000">
                <a:solidFill>
                  <a:schemeClr val="dk2"/>
                </a:solidFill>
                <a:latin typeface="Roboto"/>
                <a:ea typeface="Roboto"/>
                <a:cs typeface="Roboto"/>
                <a:sym typeface="Roboto"/>
              </a:rPr>
              <a:t>Public programming documentation (matplotlib/networkx)</a:t>
            </a:r>
            <a:endParaRPr sz="2000">
              <a:solidFill>
                <a:schemeClr val="dk2"/>
              </a:solidFill>
              <a:latin typeface="Roboto"/>
              <a:ea typeface="Roboto"/>
              <a:cs typeface="Roboto"/>
              <a:sym typeface="Roboto"/>
            </a:endParaRPr>
          </a:p>
          <a:p>
            <a:pPr indent="-355600" lvl="0" marL="457200" rtl="0" algn="l">
              <a:spcBef>
                <a:spcPts val="0"/>
              </a:spcBef>
              <a:spcAft>
                <a:spcPts val="0"/>
              </a:spcAft>
              <a:buClr>
                <a:schemeClr val="dk2"/>
              </a:buClr>
              <a:buSzPts val="2000"/>
              <a:buFont typeface="Roboto"/>
              <a:buChar char="-"/>
            </a:pPr>
            <a:r>
              <a:rPr lang="en-GB" sz="2000">
                <a:solidFill>
                  <a:schemeClr val="dk2"/>
                </a:solidFill>
                <a:latin typeface="Roboto"/>
                <a:ea typeface="Roboto"/>
                <a:cs typeface="Roboto"/>
                <a:sym typeface="Roboto"/>
              </a:rPr>
              <a:t>Websites (Datacamp; Baeldung)</a:t>
            </a:r>
            <a:endParaRPr sz="2000">
              <a:solidFill>
                <a:schemeClr val="dk2"/>
              </a:solidFill>
              <a:latin typeface="Roboto"/>
              <a:ea typeface="Roboto"/>
              <a:cs typeface="Roboto"/>
              <a:sym typeface="Robot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34"/>
          <p:cNvSpPr txBox="1"/>
          <p:nvPr>
            <p:ph type="title"/>
          </p:nvPr>
        </p:nvSpPr>
        <p:spPr>
          <a:xfrm>
            <a:off x="3597450" y="2267850"/>
            <a:ext cx="19491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Questions?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